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60" r:id="rId6"/>
    <p:sldId id="261" r:id="rId7"/>
    <p:sldId id="262" r:id="rId8"/>
    <p:sldId id="263" r:id="rId10"/>
    <p:sldId id="264" r:id="rId11"/>
    <p:sldId id="259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risk grow (%)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GB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ZIM - Textiles</c:v>
                </c:pt>
                <c:pt idx="1">
                  <c:v>Yang_Ming - Consumer_Goods</c:v>
                </c:pt>
                <c:pt idx="2">
                  <c:v>Yang_Ming - Machinery</c:v>
                </c:pt>
                <c:pt idx="3">
                  <c:v>HMM - Raw_Materials</c:v>
                </c:pt>
                <c:pt idx="4">
                  <c:v>Yang_Ming - Electronics</c:v>
                </c:pt>
                <c:pt idx="5">
                  <c:v>UPS - Pharmaceuticals</c:v>
                </c:pt>
                <c:pt idx="6">
                  <c:v>Evergreen - Automotive</c:v>
                </c:pt>
                <c:pt idx="7">
                  <c:v>DHL - Textiles</c:v>
                </c:pt>
                <c:pt idx="8">
                  <c:v>COSCO - Food_Beverage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73.2694</c:v>
                </c:pt>
                <c:pt idx="1">
                  <c:v>89.994</c:v>
                </c:pt>
                <c:pt idx="2">
                  <c:v>81.4912</c:v>
                </c:pt>
                <c:pt idx="3">
                  <c:v>71.6784</c:v>
                </c:pt>
                <c:pt idx="4">
                  <c:v>82.8047</c:v>
                </c:pt>
                <c:pt idx="5">
                  <c:v>76.3129</c:v>
                </c:pt>
                <c:pt idx="6">
                  <c:v>76.9189</c:v>
                </c:pt>
                <c:pt idx="7">
                  <c:v>71.2324</c:v>
                </c:pt>
                <c:pt idx="8">
                  <c:v>75.8677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1"/>
        <c:axId val="502491960"/>
        <c:axId val="502493016"/>
      </c:barChart>
      <c:catAx>
        <c:axId val="502491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1440000" spcFirstLastPara="1" vertOverflow="ellipsis" vert="horz" wrap="square" anchor="ctr" anchorCtr="1"/>
          <a:lstStyle/>
          <a:p>
            <a:pPr>
              <a:defRPr lang="en-GB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02493016"/>
        <c:crosses val="autoZero"/>
        <c:auto val="1"/>
        <c:lblAlgn val="ctr"/>
        <c:lblOffset val="100"/>
        <c:noMultiLvlLbl val="0"/>
      </c:catAx>
      <c:valAx>
        <c:axId val="502493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02491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9303381-5b61-4ab6-9487-ed923e69f803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CO2 per m3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GB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Sydney → Barcelona</c:v>
                </c:pt>
                <c:pt idx="1">
                  <c:v>Felixstowe → Mumbai</c:v>
                </c:pt>
                <c:pt idx="2">
                  <c:v>Port_Klang → Felixstowe</c:v>
                </c:pt>
                <c:pt idx="3">
                  <c:v>Antwerp → Piraeus</c:v>
                </c:pt>
                <c:pt idx="4">
                  <c:v>Tanjung_Pelepas → Los_Angeles</c:v>
                </c:pt>
                <c:pt idx="5">
                  <c:v>Melbourne → Antwerp</c:v>
                </c:pt>
                <c:pt idx="6">
                  <c:v>Ningbo → Le_Havre</c:v>
                </c:pt>
                <c:pt idx="7">
                  <c:v>Tokyo → Barcelona</c:v>
                </c:pt>
                <c:pt idx="8">
                  <c:v>Melbourne → Dubai</c:v>
                </c:pt>
                <c:pt idx="9">
                  <c:v>Antwerp → Rotterdam</c:v>
                </c:pt>
              </c:strCache>
            </c:strRef>
          </c:cat>
          <c:val>
            <c:numRef>
              <c:f>Sheet1!$B$2:$B$11</c:f>
              <c:numCache>
                <c:formatCode>0.0000</c:formatCode>
                <c:ptCount val="10"/>
                <c:pt idx="0">
                  <c:v>3.1824943563</c:v>
                </c:pt>
                <c:pt idx="1">
                  <c:v>3.1458346558</c:v>
                </c:pt>
                <c:pt idx="2">
                  <c:v>3.1068225425</c:v>
                </c:pt>
                <c:pt idx="3">
                  <c:v>3.0900032002</c:v>
                </c:pt>
                <c:pt idx="4">
                  <c:v>3.0792731112</c:v>
                </c:pt>
                <c:pt idx="5">
                  <c:v>3.0737408577</c:v>
                </c:pt>
                <c:pt idx="6">
                  <c:v>3.0695761424</c:v>
                </c:pt>
                <c:pt idx="7">
                  <c:v>3.060887893</c:v>
                </c:pt>
                <c:pt idx="8">
                  <c:v>3.0399105876</c:v>
                </c:pt>
                <c:pt idx="9">
                  <c:v>3.035919137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1"/>
        <c:axId val="502491960"/>
        <c:axId val="502493016"/>
      </c:barChart>
      <c:catAx>
        <c:axId val="502491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1440000" spcFirstLastPara="1" vertOverflow="ellipsis" vert="horz" wrap="square" anchor="ctr" anchorCtr="1"/>
          <a:lstStyle/>
          <a:p>
            <a:pPr>
              <a:defRPr lang="en-GB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02493016"/>
        <c:crosses val="autoZero"/>
        <c:auto val="1"/>
        <c:lblAlgn val="ctr"/>
        <c:lblOffset val="100"/>
        <c:noMultiLvlLbl val="0"/>
      </c:catAx>
      <c:valAx>
        <c:axId val="502493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02491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37c20fb-a799-4b78-b8ce-eaf5783f92cb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percentage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GB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Mumbai → Los_Angeles</c:v>
                </c:pt>
                <c:pt idx="1">
                  <c:v>Ningbo → Miami</c:v>
                </c:pt>
                <c:pt idx="2">
                  <c:v>Singapore → Le_Havre</c:v>
                </c:pt>
                <c:pt idx="3">
                  <c:v>Singapore → Piraeus</c:v>
                </c:pt>
                <c:pt idx="4">
                  <c:v>Tokyo → Dubai</c:v>
                </c:pt>
                <c:pt idx="5">
                  <c:v>Felixstowe → Felixstowe</c:v>
                </c:pt>
                <c:pt idx="6">
                  <c:v>Mundra → New_York</c:v>
                </c:pt>
                <c:pt idx="7">
                  <c:v>Colombo → Miami</c:v>
                </c:pt>
                <c:pt idx="8">
                  <c:v>Antwerp → Sydney</c:v>
                </c:pt>
                <c:pt idx="9">
                  <c:v>Mundra → Piraeus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59.598325207</c:v>
                </c:pt>
                <c:pt idx="1">
                  <c:v>59.5582334433</c:v>
                </c:pt>
                <c:pt idx="2">
                  <c:v>58.3029899867</c:v>
                </c:pt>
                <c:pt idx="3">
                  <c:v>58.2231530442</c:v>
                </c:pt>
                <c:pt idx="4">
                  <c:v>57.9444195893</c:v>
                </c:pt>
                <c:pt idx="5">
                  <c:v>57.6565233091</c:v>
                </c:pt>
                <c:pt idx="6">
                  <c:v>57.6531094277</c:v>
                </c:pt>
                <c:pt idx="7">
                  <c:v>57.61114049</c:v>
                </c:pt>
                <c:pt idx="8">
                  <c:v>57.1626265773</c:v>
                </c:pt>
                <c:pt idx="9">
                  <c:v>57.1557168679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1"/>
        <c:axId val="502491960"/>
        <c:axId val="502493016"/>
      </c:barChart>
      <c:catAx>
        <c:axId val="502491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1440000" spcFirstLastPara="1" vertOverflow="ellipsis" vert="horz" wrap="square" anchor="ctr" anchorCtr="1"/>
          <a:lstStyle/>
          <a:p>
            <a:pPr>
              <a:defRPr lang="en-GB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02493016"/>
        <c:crosses val="autoZero"/>
        <c:auto val="1"/>
        <c:lblAlgn val="ctr"/>
        <c:lblOffset val="100"/>
        <c:noMultiLvlLbl val="0"/>
      </c:catAx>
      <c:valAx>
        <c:axId val="502493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02491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386ed3b-1af5-415c-be31-89fe49822848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anomaly rate percent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GB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rfid</c:v>
                </c:pt>
                <c:pt idx="1">
                  <c:v>camera</c:v>
                </c:pt>
                <c:pt idx="2">
                  <c:v>gps</c:v>
                </c:pt>
                <c:pt idx="3">
                  <c:v>iot_humidity</c:v>
                </c:pt>
                <c:pt idx="4">
                  <c:v>iot_shock</c:v>
                </c:pt>
                <c:pt idx="5">
                  <c:v>iot_temp</c:v>
                </c:pt>
                <c:pt idx="6">
                  <c:v>manual</c:v>
                </c:pt>
                <c:pt idx="7">
                  <c:v>ais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10.7094577279</c:v>
                </c:pt>
                <c:pt idx="1">
                  <c:v>10.7085391244</c:v>
                </c:pt>
                <c:pt idx="2">
                  <c:v>10.7048071727</c:v>
                </c:pt>
                <c:pt idx="3">
                  <c:v>10.6901323697</c:v>
                </c:pt>
                <c:pt idx="4">
                  <c:v>10.6827500853</c:v>
                </c:pt>
                <c:pt idx="5">
                  <c:v>10.6404857898</c:v>
                </c:pt>
                <c:pt idx="6">
                  <c:v>10.6380116584</c:v>
                </c:pt>
                <c:pt idx="7">
                  <c:v>10.6055542853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1"/>
        <c:axId val="502491960"/>
        <c:axId val="502493016"/>
      </c:barChart>
      <c:catAx>
        <c:axId val="502491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1440000" spcFirstLastPara="1" vertOverflow="ellipsis" vert="horz" wrap="square" anchor="ctr" anchorCtr="1"/>
          <a:lstStyle/>
          <a:p>
            <a:pPr>
              <a:defRPr lang="en-GB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02493016"/>
        <c:crosses val="autoZero"/>
        <c:auto val="1"/>
        <c:lblAlgn val="ctr"/>
        <c:lblOffset val="100"/>
        <c:noMultiLvlLbl val="0"/>
      </c:catAx>
      <c:valAx>
        <c:axId val="502493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02491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a0ef412-eb3b-4329-b526-0f97b2167842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448F12-15D2-48D8-9437-5A824A314DD2}" type="datetimeFigureOut">
              <a:rPr lang="en-GB" smtClean="0"/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F79A7-8B93-4BC1-B825-DDF69D48BA32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F79A7-8B93-4BC1-B825-DDF69D48BA32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F79A7-8B93-4BC1-B825-DDF69D48BA32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F79A7-8B93-4BC1-B825-DDF69D48BA32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FBDF1-7AE3-4487-A184-5F0DB8714645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E2B9-1F66-4609-BD38-50AFF7B324B8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FBDF1-7AE3-4487-A184-5F0DB8714645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E2B9-1F66-4609-BD38-50AFF7B324B8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FBDF1-7AE3-4487-A184-5F0DB8714645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E2B9-1F66-4609-BD38-50AFF7B324B8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FBDF1-7AE3-4487-A184-5F0DB8714645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E2B9-1F66-4609-BD38-50AFF7B324B8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FBDF1-7AE3-4487-A184-5F0DB8714645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E2B9-1F66-4609-BD38-50AFF7B324B8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FBDF1-7AE3-4487-A184-5F0DB8714645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E2B9-1F66-4609-BD38-50AFF7B324B8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FBDF1-7AE3-4487-A184-5F0DB8714645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E2B9-1F66-4609-BD38-50AFF7B324B8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FBDF1-7AE3-4487-A184-5F0DB8714645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E2B9-1F66-4609-BD38-50AFF7B324B8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FBDF1-7AE3-4487-A184-5F0DB8714645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E2B9-1F66-4609-BD38-50AFF7B324B8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FBDF1-7AE3-4487-A184-5F0DB8714645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E2B9-1F66-4609-BD38-50AFF7B324B8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FBDF1-7AE3-4487-A184-5F0DB8714645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E2B9-1F66-4609-BD38-50AFF7B324B8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FBDF1-7AE3-4487-A184-5F0DB8714645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8E2B9-1F66-4609-BD38-50AFF7B324B8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Analiza pametne logistike globalnog uvoza/izvoza i povezanih ruta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Popović Filip, IN 30/2022</a:t>
            </a:r>
            <a:endParaRPr lang="en-GB"/>
          </a:p>
          <a:p>
            <a:r>
              <a:rPr lang="en-GB"/>
              <a:t>Opančina Ana, IN 40/2022</a:t>
            </a:r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Uopšteno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Podaci preuzeti sa skupa podataka sa Kaggle-a (</a:t>
            </a:r>
            <a:r>
              <a:rPr lang="en-GB" i="1"/>
              <a:t>Smart Shipment Logistics &amp; Route Event Monitoring</a:t>
            </a:r>
            <a:r>
              <a:rPr lang="en-GB"/>
              <a:t>)</a:t>
            </a:r>
            <a:endParaRPr lang="en-GB"/>
          </a:p>
          <a:p>
            <a:r>
              <a:rPr lang="en-GB"/>
              <a:t>Skup podataka sadrži dve datoteke:</a:t>
            </a:r>
            <a:endParaRPr lang="en-GB"/>
          </a:p>
          <a:p>
            <a:pPr lvl="1"/>
            <a:r>
              <a:rPr lang="en-GB"/>
              <a:t>shipments.csv (isporuke)</a:t>
            </a:r>
            <a:endParaRPr lang="en-GB"/>
          </a:p>
          <a:p>
            <a:pPr lvl="1"/>
            <a:r>
              <a:rPr lang="en-GB"/>
              <a:t>route_events.csv (događaji na rutama po kojima se odvijaju isporuke)</a:t>
            </a:r>
            <a:endParaRPr lang="en-GB"/>
          </a:p>
          <a:p>
            <a:r>
              <a:rPr lang="en-GB"/>
              <a:t>Po 5.000.001 zapis po datoteci (zaglavlje/header + 5.000.000 pojedinačnih zapisa)</a:t>
            </a:r>
            <a:endParaRPr lang="en-GB"/>
          </a:p>
          <a:p>
            <a:r>
              <a:rPr lang="en-GB"/>
              <a:t>Uloge: </a:t>
            </a:r>
            <a:r>
              <a:rPr lang="en-GB">
                <a:latin typeface="Bahnschrift SemiBold" panose="020B0502040204020203" pitchFamily="34" charset="0"/>
              </a:rPr>
              <a:t>logistički menadžer</a:t>
            </a:r>
            <a:r>
              <a:rPr lang="en-GB"/>
              <a:t> i </a:t>
            </a:r>
            <a:r>
              <a:rPr lang="en-GB">
                <a:latin typeface="Bahnschrift SemiBold" panose="020B0502040204020203" pitchFamily="34" charset="0"/>
              </a:rPr>
              <a:t>menadžer rizika</a:t>
            </a:r>
            <a:endParaRPr lang="en-GB">
              <a:latin typeface="Bahnschrift SemiBold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Logistički menadžer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000"/>
              <a:t>Koje kombinacije prevoznika i načina transporta konstantno premašuju planirana vremena tranzita i koji nizovi događaja najčešće prethode ovim kašnjenjima? </a:t>
            </a:r>
            <a:endParaRPr lang="en-GB" sz="2000"/>
          </a:p>
          <a:p>
            <a:pPr marL="457200" indent="-457200">
              <a:buFont typeface="+mj-lt"/>
              <a:buAutoNum type="arabicPeriod"/>
            </a:pPr>
            <a:r>
              <a:rPr lang="en-GB" sz="2000"/>
              <a:t>Koje karakteristike pošiljke se najčešće povezuju sa pošiljkama čiji se kumulativni tranzitni rizik povećao za više od 30% tokom transporta?</a:t>
            </a:r>
            <a:endParaRPr lang="en-GB" sz="2000"/>
          </a:p>
          <a:p>
            <a:pPr marL="457200" indent="-457200">
              <a:buFont typeface="+mj-lt"/>
              <a:buAutoNum type="arabicPeriod"/>
            </a:pPr>
            <a:r>
              <a:rPr lang="en-GB" sz="2000"/>
              <a:t>Koje rute generišu nesrazmerno visoke emisije ugljen-dioksida u odnosu na vrednost pošiljke i prevezenu količinu?</a:t>
            </a:r>
            <a:endParaRPr lang="en-GB" sz="2000"/>
          </a:p>
          <a:p>
            <a:pPr marL="457200" indent="-457200">
              <a:buFont typeface="+mj-lt"/>
              <a:buAutoNum type="arabicPeriod"/>
            </a:pPr>
            <a:r>
              <a:rPr lang="en-GB" sz="2000"/>
              <a:t>Koje rute polaska i odredišta imaju najveća kumulativna vremena čekanja u lukama i koliko ovi periodi čekanja doprinose ukupnim kašnjenjima pošiljki?</a:t>
            </a:r>
            <a:endParaRPr lang="en-GB" sz="2000"/>
          </a:p>
          <a:p>
            <a:pPr marL="457200" indent="-457200">
              <a:buFont typeface="+mj-lt"/>
              <a:buAutoNum type="arabicPeriod"/>
            </a:pPr>
            <a:r>
              <a:rPr lang="en-GB" sz="2000"/>
              <a:t>Koji tipovi senzora generišu najveće stope otkrivanja anomalija i da li te anomalije prate merljiva povećanja rizika ili kašnjenja u isporuci?</a:t>
            </a:r>
            <a:endParaRPr lang="en-GB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800"/>
              <a:t>Koje kombinacije prevoznika i načina transporta konstantno premašuju planirana vremena tranzita i koji nizovi događaja najčešće prethode ovim kašnjenjima? </a:t>
            </a:r>
            <a:endParaRPr lang="en-GB" sz="280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838200" y="1825624"/>
          <a:ext cx="10515597" cy="201379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505199"/>
                <a:gridCol w="3505199"/>
                <a:gridCol w="3505199"/>
              </a:tblGrid>
              <a:tr h="534458">
                <a:tc>
                  <a:txBody>
                    <a:bodyPr/>
                    <a:lstStyle/>
                    <a:p>
                      <a:r>
                        <a:rPr lang="en-GB" sz="2800" b="0">
                          <a:latin typeface="Bahnschrift SemiBold" panose="020B0502040204020203" pitchFamily="34" charset="0"/>
                        </a:rPr>
                        <a:t>Kurir</a:t>
                      </a:r>
                      <a:endParaRPr lang="en-GB" sz="2800" b="0">
                        <a:latin typeface="Bahnschrift SemiBold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b="0">
                          <a:latin typeface="Bahnschrift SemiBold" panose="020B0502040204020203" pitchFamily="34" charset="0"/>
                        </a:rPr>
                        <a:t>Način prevoza</a:t>
                      </a:r>
                      <a:endParaRPr lang="en-GB" sz="2800" b="0">
                        <a:latin typeface="Bahnschrift SemiBold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b="0">
                          <a:latin typeface="Bahnschrift SemiBold" panose="020B0502040204020203" pitchFamily="34" charset="0"/>
                        </a:rPr>
                        <a:t>Prosečno vreme kašnjenja (h)</a:t>
                      </a:r>
                      <a:endParaRPr lang="en-GB" sz="2800" b="0">
                        <a:latin typeface="Bahnschrift SemiBold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458">
                <a:tc>
                  <a:txBody>
                    <a:bodyPr/>
                    <a:lstStyle/>
                    <a:p>
                      <a:r>
                        <a:rPr lang="en-GB" sz="2800"/>
                        <a:t>Yang Ming</a:t>
                      </a:r>
                      <a:endParaRPr lang="en-GB" sz="2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800"/>
                        <a:t>brodom (Sea)</a:t>
                      </a:r>
                      <a:endParaRPr lang="en-GB" sz="2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800"/>
                        <a:t>54.0</a:t>
                      </a:r>
                      <a:endParaRPr lang="en-GB" sz="2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458">
                <a:tc>
                  <a:txBody>
                    <a:bodyPr/>
                    <a:lstStyle/>
                    <a:p>
                      <a:r>
                        <a:rPr lang="en-GB" sz="2800"/>
                        <a:t>ZIM</a:t>
                      </a:r>
                      <a:endParaRPr lang="en-GB" sz="2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800"/>
                        <a:t>avionom (Air)</a:t>
                      </a:r>
                      <a:endParaRPr lang="en-GB" sz="2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800"/>
                        <a:t>7.8</a:t>
                      </a:r>
                      <a:endParaRPr lang="en-GB" sz="2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800"/>
              <a:t>Koje karakteristike pošiljke se najčešće povezuju sa pošiljkama čiji se kumulativni tranzitni rizik povećao za više od 30% tokom transporta?</a:t>
            </a:r>
            <a:endParaRPr lang="en-GB" sz="280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800"/>
              <a:t>Koje rute generišu nesrazmerno visoke emisije ugljen-dioksida u odnosu na vrednost pošiljke i prevezenu količinu?</a:t>
            </a:r>
            <a:endParaRPr lang="en-GB" sz="280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800"/>
              <a:t>Koje rute polaska i odredišta imaju najveća kumulativna vremena čekanja u lukama i koliko ovi periodi čekanja doprinose ukupnim kašnjenjima pošiljki?</a:t>
            </a:r>
            <a:endParaRPr lang="en-GB" sz="280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800"/>
              <a:t>Koji tipovi senzora generišu najveće stope otkrivanja anomalija i da li te anomalije prate merljiva povećanja rizika ili kašnjenja u isporuci?</a:t>
            </a:r>
            <a:endParaRPr lang="en-GB" sz="280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Menadžer rizika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GB" sz="2000"/>
              <a:t>Koje kombinacija prevoznika, luka i kategorija robe imaju najveću verovatnoću da proizvedu pošiljke kod kojih je konačni rizik značajno veći od početno procenjenog rizika? </a:t>
            </a:r>
            <a:endParaRPr lang="en-GB" sz="2000"/>
          </a:p>
          <a:p>
            <a:pPr marL="457200" indent="-457200">
              <a:buFont typeface="+mj-lt"/>
              <a:buAutoNum type="arabicPeriod" startAt="6"/>
            </a:pPr>
            <a:r>
              <a:rPr lang="en-GB" sz="2000"/>
              <a:t>Na kojim rutama i kod kojih prevoznika se najčešće, istovremeno, javljaju anomalije, upozorenja sistema i kašnjenja - i kako to utiče na konačan status isporuke? </a:t>
            </a:r>
            <a:endParaRPr lang="en-GB" sz="2000"/>
          </a:p>
          <a:p>
            <a:pPr marL="457200" indent="-457200">
              <a:buFont typeface="+mj-lt"/>
              <a:buAutoNum type="arabicPeriod" startAt="6"/>
            </a:pPr>
            <a:r>
              <a:rPr lang="en-GB" sz="2000"/>
              <a:t>Koje luke predstavljaju najveće kritične tačke rizika, posmatrano kroz prosečno povećanje rizika, brojeve anomalija i generisanih upozorenja tokom transporta različitih kategorija robe? </a:t>
            </a:r>
            <a:endParaRPr lang="en-GB" sz="2000"/>
          </a:p>
          <a:p>
            <a:pPr marL="457200" indent="-457200">
              <a:buFont typeface="+mj-lt"/>
              <a:buAutoNum type="arabicPeriod" startAt="6"/>
            </a:pPr>
            <a:r>
              <a:rPr lang="en-GB" sz="2000"/>
              <a:t>Koje karakteristike pošiljke (vrsta robe, težina, broj kontejnera i način transporta) u kombinaciji sa određenim prevoznikom najviše utiču na pojavu rizičnih događaja tokom transporta? </a:t>
            </a:r>
            <a:endParaRPr lang="en-GB" sz="2000"/>
          </a:p>
          <a:p>
            <a:pPr marL="457200" indent="-457200">
              <a:buFont typeface="+mj-lt"/>
              <a:buAutoNum type="arabicPeriod" startAt="6"/>
            </a:pPr>
            <a:r>
              <a:rPr lang="en-GB" sz="2000"/>
              <a:t>Koji prevoznici uspevaju da održe nizak nivo rizika kod pošiljaka koje prolaze kroz luke sa visokim nivoom zagušenja i nepovoljnim vremenskim uslovima?</a:t>
            </a:r>
            <a:endParaRPr lang="en-GB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800"/>
              <a:t>Koje kombinacija prevoznika, luka i kategorija robe imaju najveću verovatnoću da proizvedu pošiljke kod kojih je konačni rizik značajno veći od početno procenjenog rizika? </a:t>
            </a:r>
            <a:endParaRPr lang="en-GB" sz="2800"/>
          </a:p>
        </p:txBody>
      </p:sp>
      <p:pic>
        <p:nvPicPr>
          <p:cNvPr id="4" name="Content Placeholder 3" descr="upit 1 optim 00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825625"/>
            <a:ext cx="4758055" cy="4351655"/>
          </a:xfrm>
          <a:prstGeom prst="rect">
            <a:avLst/>
          </a:prstGeom>
        </p:spPr>
      </p:pic>
      <p:pic>
        <p:nvPicPr>
          <p:cNvPr id="5" name="Picture 4" descr="upit 1 optim 0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365" y="2221865"/>
            <a:ext cx="4701540" cy="35585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800"/>
              <a:t>Na kojim rutama i kod kojih prevoznika se najčešće, istovremeno, javljaju anomalije, upozorenja sistema i kašnjenja - i kako to utiče na konačan status isporuke? </a:t>
            </a:r>
            <a:endParaRPr lang="en-GB" sz="2800"/>
          </a:p>
        </p:txBody>
      </p:sp>
      <p:pic>
        <p:nvPicPr>
          <p:cNvPr id="4" name="Content Placeholder 3" descr="upit 2 optim 00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36600" y="1691005"/>
            <a:ext cx="4860925" cy="4351655"/>
          </a:xfrm>
          <a:prstGeom prst="rect">
            <a:avLst/>
          </a:prstGeom>
        </p:spPr>
      </p:pic>
      <p:pic>
        <p:nvPicPr>
          <p:cNvPr id="5" name="Picture 4" descr="upit 2 optim 0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335" y="1691005"/>
            <a:ext cx="5387340" cy="32842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800"/>
              <a:t>Koje luke predstavljaju najveće kritične tačke rizika, posmatrano kroz prosečno povećanje rizika, brojeve anomalija i generisanih upozorenja tokom transporta različitih kategorija robe? </a:t>
            </a:r>
            <a:endParaRPr lang="en-GB" sz="2800"/>
          </a:p>
        </p:txBody>
      </p:sp>
      <p:pic>
        <p:nvPicPr>
          <p:cNvPr id="4" name="Content Placeholder 3" descr="upit 3 optim 00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825625"/>
            <a:ext cx="5008880" cy="4351655"/>
          </a:xfrm>
          <a:prstGeom prst="rect">
            <a:avLst/>
          </a:prstGeom>
        </p:spPr>
      </p:pic>
      <p:pic>
        <p:nvPicPr>
          <p:cNvPr id="5" name="Picture 4" descr="upit 3 optim 0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685" y="1825625"/>
            <a:ext cx="5730240" cy="4739640"/>
          </a:xfrm>
          <a:prstGeom prst="rect">
            <a:avLst/>
          </a:prstGeom>
        </p:spPr>
      </p:pic>
      <p:pic>
        <p:nvPicPr>
          <p:cNvPr id="6" name="Picture 5" descr="upit 3 optim 0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920" y="3954780"/>
            <a:ext cx="5463540" cy="27203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800"/>
              <a:t>Koje karakteristike pošiljke (vrsta robe, težina, broj kontejnera i način transporta) u kombinaciji sa određenim prevoznikom najviše utiču na pojavu rizičnih događaja tokom transporta? </a:t>
            </a:r>
            <a:endParaRPr lang="en-GB" sz="2800"/>
          </a:p>
        </p:txBody>
      </p:sp>
      <p:pic>
        <p:nvPicPr>
          <p:cNvPr id="5" name="Content Placeholder 4" descr="upit 4 optim 00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94450" y="2084705"/>
            <a:ext cx="5196840" cy="3695700"/>
          </a:xfrm>
          <a:prstGeom prst="rect">
            <a:avLst/>
          </a:prstGeom>
        </p:spPr>
      </p:pic>
      <p:pic>
        <p:nvPicPr>
          <p:cNvPr id="4" name="Picture 3" descr="upit 4 optim 0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50" y="2084705"/>
            <a:ext cx="5048885" cy="44469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800"/>
              <a:t>Koji prevoznici uspevaju da održe nizak nivo rizika kod pošiljaka koje prolaze kroz luke sa visokim nivoom zagušenja i nepovoljnim vremenskim uslovima?</a:t>
            </a:r>
            <a:endParaRPr lang="en-GB" sz="2800"/>
          </a:p>
        </p:txBody>
      </p:sp>
      <p:pic>
        <p:nvPicPr>
          <p:cNvPr id="4" name="Content Placeholder 3" descr="upit 5 optim 00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691005"/>
            <a:ext cx="4829810" cy="4351655"/>
          </a:xfrm>
          <a:prstGeom prst="rect">
            <a:avLst/>
          </a:prstGeom>
        </p:spPr>
      </p:pic>
      <p:pic>
        <p:nvPicPr>
          <p:cNvPr id="5" name="Picture 4" descr="upit 5 optim 0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1672590"/>
            <a:ext cx="4777740" cy="35128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Zaključak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Analiza velikog skupa logisti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č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kih podataka u MongoDB pokazala je jasne obrasce u pojavi rizika, ka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njenja i anomalija u zavisnosti od rute, prevoznika i tipa robe.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Optimizacija je postignuta kroz indeksiranje klju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č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nih polja i reorganizaciju agregacionih upita (raniji $match i $project),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č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ime je smanjeno vreme obrade i pobolj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š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ane performanse nad velikim skupom podataka.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Analiza pametne logistike globalnog uvoza/izvoza i povezanih ruta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Popović Filip, IN 30/2022</a:t>
            </a:r>
            <a:endParaRPr lang="en-GB"/>
          </a:p>
          <a:p>
            <a:r>
              <a:rPr lang="en-GB"/>
              <a:t>Opančina Ana, IN 40/2022</a:t>
            </a:r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Bahnschrift 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4221</Words>
  <Application>WPS Presentation</Application>
  <PresentationFormat>Widescreen</PresentationFormat>
  <Paragraphs>78</Paragraphs>
  <Slides>16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SimSun</vt:lpstr>
      <vt:lpstr>Wingdings</vt:lpstr>
      <vt:lpstr>Bahnschrift SemiBold</vt:lpstr>
      <vt:lpstr>Bahnschrift Light</vt:lpstr>
      <vt:lpstr>Bahnschrift SemiLight</vt:lpstr>
      <vt:lpstr>Microsoft YaHei</vt:lpstr>
      <vt:lpstr>Arial Unicode MS</vt:lpstr>
      <vt:lpstr>Calibri</vt:lpstr>
      <vt:lpstr>Office Theme</vt:lpstr>
      <vt:lpstr>Analiza pametne logistike globalnog uvoza/izvoza i povezanih ruta</vt:lpstr>
      <vt:lpstr>Uopšteno</vt:lpstr>
      <vt:lpstr>Logistički menadžer</vt:lpstr>
      <vt:lpstr>Koje kombinacije prevoznika i načina transporta konstantno premašuju planirana vremena tranzita i koji nizovi događaja najčešće prethode ovim kašnjenjima? </vt:lpstr>
      <vt:lpstr>Koje karakteristike pošiljke se najčešće povezuju sa pošiljkama čiji se kumulativni tranzitni rizik povećao za više od 30% tokom transporta?</vt:lpstr>
      <vt:lpstr>Koje rute generišu nesrazmerno visoke emisije ugljen-dioksida u odnosu na vrednost pošiljke i prevezenu količinu?</vt:lpstr>
      <vt:lpstr>Koje rute polaska i odredišta imaju najveća kumulativna vremena čekanja u lukama i koliko ovi periodi čekanja doprinose ukupnim kašnjenjima pošiljki?</vt:lpstr>
      <vt:lpstr>Koji tipovi senzora generišu najveće stope otkrivanja anomalija i da li te anomalije prate merljiva povećanja rizika ili kašnjenja u isporuci?</vt:lpstr>
      <vt:lpstr>Menadžer rizika</vt:lpstr>
      <vt:lpstr>Koje kombinacija prevoznika, luka i kategorija robe imaju najveću verovatnoću da proizvedu pošiljke kod kojih je konačni rizik značajno veći od početno procenjenog rizika? </vt:lpstr>
      <vt:lpstr>Na kojim rutama i kod kojih prevoznika se najčešće, istovremeno, javljaju anomalije, upozorenja sistema i kašnjenja - i kako to utiče na konačan status isporuke? </vt:lpstr>
      <vt:lpstr>Koje luke predstavljaju najveće kritične tačke rizika, posmatrano kroz prosečno povećanje rizika, brojeve anomalija i generisanih upozorenja tokom transporta različitih kategorija robe? </vt:lpstr>
      <vt:lpstr>Koje karakteristike pošiljke (vrsta robe, težina, broj kontejnera i način transporta) u kombinaciji sa određenim prevoznikom najviše utiču na pojavu rizičnih događaja tokom transporta? </vt:lpstr>
      <vt:lpstr>Koji prevoznici uspevaju da održe nizak nivo rizika kod pošiljaka koje prolaze kroz luke sa visokim nivoom zagušenja i nepovoljnim vremenskim uslovima?</vt:lpstr>
      <vt:lpstr>Zaključak</vt:lpstr>
      <vt:lpstr>Analiza pametne logistike globalnog uvoza/izvoza i povezanih ruta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Guy the Boy</dc:creator>
  <cp:lastModifiedBy>HP</cp:lastModifiedBy>
  <cp:revision>59</cp:revision>
  <dcterms:created xsi:type="dcterms:W3CDTF">2026-07-03T13:12:00Z</dcterms:created>
  <dcterms:modified xsi:type="dcterms:W3CDTF">2026-07-04T04:53:42Z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C3CB2C1162E04A119497801124670D81_13</vt:lpwstr>
  </property>
  <property fmtid="{D5CDD505-2E9C-101B-9397-08002B2CF9AE}" pid="3" name="KSOProductBuildVer">
    <vt:lpwstr>2057-12.2.0.23206</vt:lpwstr>
  </property>
</Properties>
</file>