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59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risk grow 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Sheet1!$A$2:$A$10</c:f>
              <c:strCache>
                <c:ptCount val="9"/>
                <c:pt idx="0">
                  <c:v>ZIM - Textiles</c:v>
                </c:pt>
                <c:pt idx="1">
                  <c:v>Yang_Ming - Consumer_Goods</c:v>
                </c:pt>
                <c:pt idx="2">
                  <c:v>Yang_Ming - Machinery</c:v>
                </c:pt>
                <c:pt idx="3">
                  <c:v>HMM - Raw_Materials</c:v>
                </c:pt>
                <c:pt idx="4">
                  <c:v>Yang_Ming - Electronics</c:v>
                </c:pt>
                <c:pt idx="5">
                  <c:v>UPS - Pharmaceuticals</c:v>
                </c:pt>
                <c:pt idx="6">
                  <c:v>Evergreen - Automotive</c:v>
                </c:pt>
                <c:pt idx="7">
                  <c:v>DHL - Textiles</c:v>
                </c:pt>
                <c:pt idx="8">
                  <c:v>COSCO - Food_Beverage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73.269400000000005</c:v>
                </c:pt>
                <c:pt idx="1">
                  <c:v>89.994</c:v>
                </c:pt>
                <c:pt idx="2">
                  <c:v>81.491200000000006</c:v>
                </c:pt>
                <c:pt idx="3">
                  <c:v>71.678399999999996</c:v>
                </c:pt>
                <c:pt idx="4">
                  <c:v>82.804699999999997</c:v>
                </c:pt>
                <c:pt idx="5">
                  <c:v>76.312899999999999</c:v>
                </c:pt>
                <c:pt idx="6">
                  <c:v>76.918899999999994</c:v>
                </c:pt>
                <c:pt idx="7">
                  <c:v>71.232399999999998</c:v>
                </c:pt>
                <c:pt idx="8">
                  <c:v>75.867699999999999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74-44C5-93EB-6C7DC3F5D0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1"/>
        <c:axId val="502491960"/>
        <c:axId val="502493016"/>
      </c:barChart>
      <c:catAx>
        <c:axId val="502491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144000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2493016"/>
        <c:crosses val="autoZero"/>
        <c:auto val="1"/>
        <c:lblAlgn val="ctr"/>
        <c:lblOffset val="100"/>
        <c:noMultiLvlLbl val="0"/>
      </c:catAx>
      <c:valAx>
        <c:axId val="502493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2491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CO2 per m3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Sydney → Barcelona</c:v>
                </c:pt>
                <c:pt idx="1">
                  <c:v>Felixstowe → Mumbai</c:v>
                </c:pt>
                <c:pt idx="2">
                  <c:v>Port_Klang → Felixstowe</c:v>
                </c:pt>
                <c:pt idx="3">
                  <c:v>Antwerp → Piraeus</c:v>
                </c:pt>
                <c:pt idx="4">
                  <c:v>Tanjung_Pelepas → Los_Angeles</c:v>
                </c:pt>
                <c:pt idx="5">
                  <c:v>Melbourne → Antwerp</c:v>
                </c:pt>
                <c:pt idx="6">
                  <c:v>Ningbo → Le_Havre</c:v>
                </c:pt>
                <c:pt idx="7">
                  <c:v>Tokyo → Barcelona</c:v>
                </c:pt>
                <c:pt idx="8">
                  <c:v>Melbourne → Dubai</c:v>
                </c:pt>
                <c:pt idx="9">
                  <c:v>Antwerp → Rotterdam</c:v>
                </c:pt>
              </c:strCache>
            </c:strRef>
          </c:cat>
          <c:val>
            <c:numRef>
              <c:f>Sheet1!$B$2:$B$11</c:f>
              <c:numCache>
                <c:formatCode>0.0000</c:formatCode>
                <c:ptCount val="10"/>
                <c:pt idx="0">
                  <c:v>3.1824943562999999</c:v>
                </c:pt>
                <c:pt idx="1">
                  <c:v>3.1458346557999999</c:v>
                </c:pt>
                <c:pt idx="2">
                  <c:v>3.1068225424999998</c:v>
                </c:pt>
                <c:pt idx="3">
                  <c:v>3.0900032002</c:v>
                </c:pt>
                <c:pt idx="4">
                  <c:v>3.0792731112</c:v>
                </c:pt>
                <c:pt idx="5">
                  <c:v>3.0737408576999998</c:v>
                </c:pt>
                <c:pt idx="6">
                  <c:v>3.0695761423999999</c:v>
                </c:pt>
                <c:pt idx="7">
                  <c:v>3.0608878929999999</c:v>
                </c:pt>
                <c:pt idx="8">
                  <c:v>3.0399105876000001</c:v>
                </c:pt>
                <c:pt idx="9">
                  <c:v>3.035919137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74-44C5-93EB-6C7DC3F5D0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1"/>
        <c:axId val="502491960"/>
        <c:axId val="502493016"/>
      </c:barChart>
      <c:catAx>
        <c:axId val="502491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144000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2493016"/>
        <c:crosses val="autoZero"/>
        <c:auto val="1"/>
        <c:lblAlgn val="ctr"/>
        <c:lblOffset val="100"/>
        <c:noMultiLvlLbl val="0"/>
      </c:catAx>
      <c:valAx>
        <c:axId val="502493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2491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percentage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Mumbai → Los_Angeles</c:v>
                </c:pt>
                <c:pt idx="1">
                  <c:v>Ningbo → Miami</c:v>
                </c:pt>
                <c:pt idx="2">
                  <c:v>Singapore → Le_Havre</c:v>
                </c:pt>
                <c:pt idx="3">
                  <c:v>Singapore → Piraeus</c:v>
                </c:pt>
                <c:pt idx="4">
                  <c:v>Tokyo → Dubai</c:v>
                </c:pt>
                <c:pt idx="5">
                  <c:v>Felixstowe → Felixstowe</c:v>
                </c:pt>
                <c:pt idx="6">
                  <c:v>Mundra → New_York</c:v>
                </c:pt>
                <c:pt idx="7">
                  <c:v>Colombo → Miami</c:v>
                </c:pt>
                <c:pt idx="8">
                  <c:v>Antwerp → Sydney</c:v>
                </c:pt>
                <c:pt idx="9">
                  <c:v>Mundra → Piraeus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59.598325207000002</c:v>
                </c:pt>
                <c:pt idx="1">
                  <c:v>59.558233443299997</c:v>
                </c:pt>
                <c:pt idx="2">
                  <c:v>58.302989986699998</c:v>
                </c:pt>
                <c:pt idx="3">
                  <c:v>58.223153044199996</c:v>
                </c:pt>
                <c:pt idx="4">
                  <c:v>57.944419589299997</c:v>
                </c:pt>
                <c:pt idx="5">
                  <c:v>57.656523309100002</c:v>
                </c:pt>
                <c:pt idx="6">
                  <c:v>57.653109427700002</c:v>
                </c:pt>
                <c:pt idx="7">
                  <c:v>57.611140489999997</c:v>
                </c:pt>
                <c:pt idx="8">
                  <c:v>57.162626577300003</c:v>
                </c:pt>
                <c:pt idx="9">
                  <c:v>57.155716867899997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74-44C5-93EB-6C7DC3F5D0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1"/>
        <c:axId val="502491960"/>
        <c:axId val="502493016"/>
      </c:barChart>
      <c:catAx>
        <c:axId val="502491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144000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2493016"/>
        <c:crosses val="autoZero"/>
        <c:auto val="1"/>
        <c:lblAlgn val="ctr"/>
        <c:lblOffset val="100"/>
        <c:noMultiLvlLbl val="0"/>
      </c:catAx>
      <c:valAx>
        <c:axId val="502493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2491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anomaly rate percent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rfid</c:v>
                </c:pt>
                <c:pt idx="1">
                  <c:v>camera</c:v>
                </c:pt>
                <c:pt idx="2">
                  <c:v>gps</c:v>
                </c:pt>
                <c:pt idx="3">
                  <c:v>iot_humidity</c:v>
                </c:pt>
                <c:pt idx="4">
                  <c:v>iot_shock</c:v>
                </c:pt>
                <c:pt idx="5">
                  <c:v>iot_temp</c:v>
                </c:pt>
                <c:pt idx="6">
                  <c:v>manual</c:v>
                </c:pt>
                <c:pt idx="7">
                  <c:v>ais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10.7094577279</c:v>
                </c:pt>
                <c:pt idx="1">
                  <c:v>10.7085391244</c:v>
                </c:pt>
                <c:pt idx="2">
                  <c:v>10.704807172700001</c:v>
                </c:pt>
                <c:pt idx="3">
                  <c:v>10.690132369700001</c:v>
                </c:pt>
                <c:pt idx="4">
                  <c:v>10.6827500853</c:v>
                </c:pt>
                <c:pt idx="5">
                  <c:v>10.6404857898</c:v>
                </c:pt>
                <c:pt idx="6">
                  <c:v>10.6380116584</c:v>
                </c:pt>
                <c:pt idx="7">
                  <c:v>10.6055542853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74-44C5-93EB-6C7DC3F5D0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1"/>
        <c:axId val="502491960"/>
        <c:axId val="502493016"/>
      </c:barChart>
      <c:catAx>
        <c:axId val="502491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144000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2493016"/>
        <c:crosses val="autoZero"/>
        <c:auto val="1"/>
        <c:lblAlgn val="ctr"/>
        <c:lblOffset val="100"/>
        <c:noMultiLvlLbl val="0"/>
      </c:catAx>
      <c:valAx>
        <c:axId val="502493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24919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48F12-15D2-48D8-9437-5A824A314DD2}" type="datetimeFigureOut">
              <a:rPr lang="en-GB" smtClean="0"/>
              <a:t>03-07-26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F79A7-8B93-4BC1-B825-DDF69D48BA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4867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F79A7-8B93-4BC1-B825-DDF69D48BA3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868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64BC2-F793-1680-8463-17449880D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F22736-682E-5E37-9672-CB2BAF13C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7EFD2A-C9B4-66FE-2194-37DB6DCA3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11E61-E654-58AA-F570-B6D0719D89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F79A7-8B93-4BC1-B825-DDF69D48BA3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40786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7E751-2782-D9E1-B467-B1CEAAD2F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D16D0-E467-5DA2-D0BA-F715E600A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19A80D-706C-12D3-FE28-7B29D4499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BB356-CB61-1B64-5A47-F9B0AF1632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5F79A7-8B93-4BC1-B825-DDF69D48BA3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92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80883-3245-3AE4-D4AB-9E365B3C1D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D69DD-6E43-E0D2-EF23-4E8811184A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AC954-C0CB-C1F9-E8CF-EE8C8A41B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FBDF1-7AE3-4487-A184-5F0DB8714645}" type="datetimeFigureOut">
              <a:rPr lang="en-GB" smtClean="0"/>
              <a:t>03-07-26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63316-9E25-DEA3-B2F9-85430C425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99333-0A18-2BC3-324D-C99863F78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E2B9-1F66-4609-BD38-50AFF7B324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179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7CEDD-E9A5-3AF0-6C09-6BD4FAD86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A9B46-53C4-18BF-9014-C76C2F64F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D2F0A-0B84-760B-C6B2-FCCBB2741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FBDF1-7AE3-4487-A184-5F0DB8714645}" type="datetimeFigureOut">
              <a:rPr lang="en-GB" smtClean="0"/>
              <a:t>03-07-26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6F9FC-9E43-3DCA-F266-D48245371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50950-033F-AE94-F0B7-438C2866C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E2B9-1F66-4609-BD38-50AFF7B324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390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DFA43-24C0-7B14-E467-B797FD2E9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391E1-2B55-3CF0-BA2B-9D6B00BCD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A00E9-CADE-75B3-6A73-870B72923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FBDF1-7AE3-4487-A184-5F0DB8714645}" type="datetimeFigureOut">
              <a:rPr lang="en-GB" smtClean="0"/>
              <a:t>03-07-26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21240-17D6-4017-D3BB-CD704C314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E43CE-E1DB-5392-50A8-975524D2E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E2B9-1F66-4609-BD38-50AFF7B324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193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85378-7419-8822-577B-6038B4D5E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917AE-BFCB-D9CB-569F-26A01DF61D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148974-8072-BBD0-B2D5-C0805BA80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6CAF5F-DA52-E562-DB53-2509DD80A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FBDF1-7AE3-4487-A184-5F0DB8714645}" type="datetimeFigureOut">
              <a:rPr lang="en-GB" smtClean="0"/>
              <a:t>03-07-26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E3CB42-C5C3-C879-056F-B91BD8445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353549-FEAB-0F2F-0740-E5946C619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E2B9-1F66-4609-BD38-50AFF7B324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010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B8FEC-31C2-7B98-302F-97E821551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00A53-C8AD-442A-3E7E-B45369737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68D13-91DB-CB89-F188-7BEEE407B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A06A3B-AE09-4A3B-FB82-29967B4EE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4F1E34-4BA9-924E-AABD-743F5CB1D4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832771-77C3-A133-6655-A2B94591C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FBDF1-7AE3-4487-A184-5F0DB8714645}" type="datetimeFigureOut">
              <a:rPr lang="en-GB" smtClean="0"/>
              <a:t>03-07-26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E754AA-D3E3-86C0-5FA4-425E8971A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418D41-1872-6747-F66B-F37E48E70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E2B9-1F66-4609-BD38-50AFF7B324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974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30662-79F9-5C2D-3BF1-66332BF32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332E39-3AEA-431D-99CF-6E2C7F283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FBDF1-7AE3-4487-A184-5F0DB8714645}" type="datetimeFigureOut">
              <a:rPr lang="en-GB" smtClean="0"/>
              <a:t>03-07-26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3AF2D0-85B0-9BAC-E711-28A0E361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6C1DF1-58F6-826A-5B88-E751D08D2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E2B9-1F66-4609-BD38-50AFF7B324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6864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B18530-FBCC-F17E-EAA8-29B5B0D39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FBDF1-7AE3-4487-A184-5F0DB8714645}" type="datetimeFigureOut">
              <a:rPr lang="en-GB" smtClean="0"/>
              <a:t>03-07-26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0F9ECF-FA7D-71A1-772D-C84002A6A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BB6BA-6BE8-A182-5C4E-7FF67AD93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E2B9-1F66-4609-BD38-50AFF7B324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5486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D4AA8-A7EB-AB54-F880-C329F9E00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69D42-4AFF-0BB8-6B0E-E1CBA54E8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3F345-C3BA-62B0-6730-47FD4BBF4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431FE-D671-D525-BBC6-0D676D701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FBDF1-7AE3-4487-A184-5F0DB8714645}" type="datetimeFigureOut">
              <a:rPr lang="en-GB" smtClean="0"/>
              <a:t>03-07-26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CDEF4-4A33-1470-B33A-19E14A6F7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E2A021-A78B-DC25-B4C7-DC27EF6A0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E2B9-1F66-4609-BD38-50AFF7B324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098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B5D49-3033-40C4-7B0D-322C9BF83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A4CED-507B-32A9-8379-186D423755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A6C818-24F2-3E2A-2457-99F584827C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1CD4F-8206-736A-7583-E9824BE6C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FBDF1-7AE3-4487-A184-5F0DB8714645}" type="datetimeFigureOut">
              <a:rPr lang="en-GB" smtClean="0"/>
              <a:t>03-07-26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33889C-A951-461D-78B6-F649AF35D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AD783-A03D-8A21-239E-67D9760A4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E2B9-1F66-4609-BD38-50AFF7B324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421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9D371-E0BF-5C59-8110-3E1EF44A1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F289CD-592B-73E6-68BC-5B04D08E1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C9374-7CD8-940B-101F-6AC20FFA7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FBDF1-7AE3-4487-A184-5F0DB8714645}" type="datetimeFigureOut">
              <a:rPr lang="en-GB" smtClean="0"/>
              <a:t>03-07-26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412B5-92A9-8C4C-27A1-07DEC60BB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8A87A-E4AD-A737-59AD-F0E0FDFA4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E2B9-1F66-4609-BD38-50AFF7B324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9644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A8862D-EBCB-59D8-69DD-77CB90049D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7FA517-1250-86B3-9555-299E5659D6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B8CF7D-2244-5065-9E5F-0CE76223B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FBDF1-7AE3-4487-A184-5F0DB8714645}" type="datetimeFigureOut">
              <a:rPr lang="en-GB" smtClean="0"/>
              <a:t>03-07-26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1B558-480F-AF1B-85DF-F21372CAC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CA5A45-A5E4-5D60-6EA4-111FED961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98E2B9-1F66-4609-BD38-50AFF7B324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24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4F8EFB-7C04-ED54-753B-361763805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BAEFA-651C-30E6-BBD4-988CDFB80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92763-3D92-1DB9-893C-4F7BCD2AE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FFBDF1-7AE3-4487-A184-5F0DB8714645}" type="datetimeFigureOut">
              <a:rPr lang="en-GB" smtClean="0"/>
              <a:t>03-07-26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1481E-3297-2AC3-E0AD-93FE89DA92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DA16B-E483-365C-7811-2A0FEA285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98E2B9-1F66-4609-BD38-50AFF7B324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643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D39A4-149B-51F0-C316-3A05BAAB8E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Analiza pametne logistike globalnog uvoza/izvoza i povezanih ruta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928A27-6657-AA44-6A57-C89404F66F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Popović Filip, IN 30/2022</a:t>
            </a:r>
          </a:p>
          <a:p>
            <a:r>
              <a:rPr lang="en-GB"/>
              <a:t>Opančina Ana, IN 40/2022</a:t>
            </a:r>
          </a:p>
        </p:txBody>
      </p:sp>
    </p:spTree>
    <p:extLst>
      <p:ext uri="{BB962C8B-B14F-4D97-AF65-F5344CB8AC3E}">
        <p14:creationId xmlns:p14="http://schemas.microsoft.com/office/powerpoint/2010/main" val="3221649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83D2CC-8382-3BEA-C283-3CB036C0A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Uopšteno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1B1FFF-DA85-0051-D21C-36565B975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Podaci preuzeti sa skupa podataka sa Kaggle-a (</a:t>
            </a:r>
            <a:r>
              <a:rPr lang="en-GB" i="1"/>
              <a:t>Smart Shipment Logistics &amp; Route Event Monitoring</a:t>
            </a:r>
            <a:r>
              <a:rPr lang="en-GB"/>
              <a:t>)</a:t>
            </a:r>
          </a:p>
          <a:p>
            <a:r>
              <a:rPr lang="en-GB"/>
              <a:t>Skup podataka sadrži dve datoteke:</a:t>
            </a:r>
          </a:p>
          <a:p>
            <a:pPr lvl="1"/>
            <a:r>
              <a:rPr lang="en-GB"/>
              <a:t>shipments.csv (isporuke)</a:t>
            </a:r>
          </a:p>
          <a:p>
            <a:pPr lvl="1"/>
            <a:r>
              <a:rPr lang="en-GB"/>
              <a:t>route_events.csv (događaji na rutama po kojima se odvijaju isporuke)</a:t>
            </a:r>
          </a:p>
          <a:p>
            <a:r>
              <a:rPr lang="en-GB"/>
              <a:t>Po 5.000.001 zapis po datoteci (zaglavlje/header + 5.000.000 pojedinačnih zapisa)</a:t>
            </a:r>
          </a:p>
          <a:p>
            <a:r>
              <a:rPr lang="en-GB"/>
              <a:t>Uloge: </a:t>
            </a:r>
            <a:r>
              <a:rPr lang="en-GB">
                <a:latin typeface="Bahnschrift SemiBold" panose="020B0502040204020203" pitchFamily="34" charset="0"/>
              </a:rPr>
              <a:t>logistički menadžer</a:t>
            </a:r>
            <a:r>
              <a:rPr lang="en-GB"/>
              <a:t> i </a:t>
            </a:r>
            <a:r>
              <a:rPr lang="en-GB">
                <a:latin typeface="Bahnschrift SemiBold" panose="020B0502040204020203" pitchFamily="34" charset="0"/>
              </a:rPr>
              <a:t>menadžer rizika</a:t>
            </a:r>
          </a:p>
        </p:txBody>
      </p:sp>
    </p:spTree>
    <p:extLst>
      <p:ext uri="{BB962C8B-B14F-4D97-AF65-F5344CB8AC3E}">
        <p14:creationId xmlns:p14="http://schemas.microsoft.com/office/powerpoint/2010/main" val="1798423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91F5E-868B-420E-9A7E-89D1D6F60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Logistički menadžer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A39F5-FF48-5511-EAFB-3879448E7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000"/>
              <a:t>Koje kombinacije prevoznika i načina transporta konstantno premašuju planirana vremena tranzita i koji nizovi događaja najčešće prethode ovim kašnjenjima? 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/>
              <a:t>Koje karakteristike pošiljke se najčešće povezuju sa pošiljkama čiji se kumulativni tranzitni rizik povećao za više od 30% tokom transporta?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/>
              <a:t>Koje rute generišu nesrazmerno visoke emisije ugljen-dioksida u odnosu na vrednost pošiljke i prevezenu količinu?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/>
              <a:t>Koje rute polaska i odredišta imaju najveća kumulativna vremena čekanja u lukama i koliko ovi periodi čekanja doprinose ukupnim kašnjenjima pošiljki?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/>
              <a:t>Koji tipovi senzora generišu najveće stope otkrivanja anomalija i da li te anomalije prate merljiva povećanja rizika ili kašnjenja u isporuci?</a:t>
            </a:r>
          </a:p>
        </p:txBody>
      </p:sp>
    </p:spTree>
    <p:extLst>
      <p:ext uri="{BB962C8B-B14F-4D97-AF65-F5344CB8AC3E}">
        <p14:creationId xmlns:p14="http://schemas.microsoft.com/office/powerpoint/2010/main" val="1613175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A1D23-C276-5527-4A2C-4B6D5324C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800"/>
              <a:t>Koje kombinacije prevoznika i načina transporta konstantno premašuju planirana vremena tranzita i koji nizovi događaja najčešće prethode ovim kašnjenjima? 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846B5C0-205F-7BD4-5B65-E9874C62AC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1026220"/>
              </p:ext>
            </p:extLst>
          </p:nvPr>
        </p:nvGraphicFramePr>
        <p:xfrm>
          <a:off x="838200" y="1825624"/>
          <a:ext cx="10515597" cy="2013796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40486842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91357841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939683908"/>
                    </a:ext>
                  </a:extLst>
                </a:gridCol>
              </a:tblGrid>
              <a:tr h="534458">
                <a:tc>
                  <a:txBody>
                    <a:bodyPr/>
                    <a:lstStyle/>
                    <a:p>
                      <a:r>
                        <a:rPr lang="en-GB" sz="2800" b="0">
                          <a:latin typeface="Bahnschrift SemiBold" panose="020B0502040204020203" pitchFamily="34" charset="0"/>
                        </a:rPr>
                        <a:t>Kurir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b="0">
                          <a:latin typeface="Bahnschrift SemiBold" panose="020B0502040204020203" pitchFamily="34" charset="0"/>
                        </a:rPr>
                        <a:t>Način prevoza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800" b="0">
                          <a:latin typeface="Bahnschrift SemiBold" panose="020B0502040204020203" pitchFamily="34" charset="0"/>
                        </a:rPr>
                        <a:t>Prosečno vreme kašnjenja (h)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8649797"/>
                  </a:ext>
                </a:extLst>
              </a:tr>
              <a:tr h="534458">
                <a:tc>
                  <a:txBody>
                    <a:bodyPr/>
                    <a:lstStyle/>
                    <a:p>
                      <a:r>
                        <a:rPr lang="en-GB" sz="2800"/>
                        <a:t>Yang Ming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800"/>
                        <a:t>brodom (Sea)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800"/>
                        <a:t>54.0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6389981"/>
                  </a:ext>
                </a:extLst>
              </a:tr>
              <a:tr h="534458">
                <a:tc>
                  <a:txBody>
                    <a:bodyPr/>
                    <a:lstStyle/>
                    <a:p>
                      <a:r>
                        <a:rPr lang="en-GB" sz="2800"/>
                        <a:t>ZIM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800"/>
                        <a:t>avionom (Air)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800"/>
                        <a:t>7.8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103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2422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6C8CC-767B-E3E7-8ADA-406DB45DA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4C2AF-789F-5897-4C23-395102F0A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800"/>
              <a:t>Koje karakteristike pošiljke se najčešće povezuju sa pošiljkama čiji se kumulativni tranzitni rizik povećao za više od 30% tokom transporta?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8DF827B-46DA-1170-9A5B-F4F0CF444B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300216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62283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6B048-F93B-52AF-37EF-37759959E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EAA0C-76B9-2644-A74D-F0AEAE341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800"/>
              <a:t>Koje rute generišu nesrazmerno visoke emisije ugljen-dioksida u odnosu na vrednost pošiljke i prevezenu količinu?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0250F28-18C3-B610-90F8-FA9AB00AB6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431070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36539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A2094-0B64-DE53-2AAE-F715365A0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8B889-A5A7-73D2-ADA3-053455A58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800"/>
              <a:t>Koje rute polaska i odredišta imaju najveća kumulativna vremena čekanja u lukama i koliko ovi periodi čekanja doprinose ukupnim kašnjenjima pošiljki?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49E288B-54F9-1BE5-0345-B915981F03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105702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35975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E141C-C6E6-7E52-0A2A-DA1FC2061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F16B5-2AFF-175F-A2F7-AFACBA4CB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800"/>
              <a:t>Koji tipovi senzora generišu najveće stope otkrivanja anomalija i da li te anomalije prate merljiva povećanja rizika ili kašnjenja u isporuci?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3982305-BD9F-411E-EDF5-C47113EF6E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906708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73275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E9E70-C30A-9702-57BE-DF9B7B951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2B6CF-ADF2-248B-86A9-158861DB1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Menadžer rizika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150D6-4DB3-B912-963E-ADDB96957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GB" sz="2000"/>
              <a:t>Koje kombinacija prevoznika, luka i kategorija robe imaju najveću verovatnoću da proizvedu pošiljke kod kojih je konačni rizik značajno veći od početno procenjenog rizika? 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GB" sz="2000"/>
              <a:t>Na kojim rutama i kod kojih prevoznika se najčešće, istovremeno, javljaju anomalije, upozorenja sistema i kašnjenja - i kako to utiče na konačan status isporuke? 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GB" sz="2000"/>
              <a:t>Koje luke predstavljaju najveće kritične tačke rizika, posmatrano kroz prosečno povećanje rizika, brojeve anomalija i generisanih upozorenja tokom transporta različitih kategorija robe? 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GB" sz="2000"/>
              <a:t>Koje karakteristike pošiljke (vrsta robe, težina, broj kontejnera i način transporta) u kombinaciji sa određenim prevoznikom najviše utiču na pojavu rizičnih događaja tokom transporta? </a:t>
            </a:r>
          </a:p>
          <a:p>
            <a:pPr marL="457200" indent="-457200">
              <a:buFont typeface="+mj-lt"/>
              <a:buAutoNum type="arabicPeriod" startAt="6"/>
            </a:pPr>
            <a:r>
              <a:rPr lang="en-GB" sz="2000"/>
              <a:t>Koji prevoznici uspevaju da održe nizak nivo rizika kod pošiljaka koje prolaze kroz luke sa visokim nivoom zagušenja i nepovoljnim vremenskim uslovima?</a:t>
            </a:r>
          </a:p>
        </p:txBody>
      </p:sp>
    </p:spTree>
    <p:extLst>
      <p:ext uri="{BB962C8B-B14F-4D97-AF65-F5344CB8AC3E}">
        <p14:creationId xmlns:p14="http://schemas.microsoft.com/office/powerpoint/2010/main" val="1947230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21B98-1CF3-3BD9-9DFF-2EC3C3427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800"/>
              <a:t>Koje kombinacija prevoznika, luka i kategorija robe imaju najveću verovatnoću da proizvedu pošiljke kod kojih je konačni rizik značajno veći od početno procenjenog rizika?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AB80C-C621-636E-E735-7F6D9CC62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(grafikon ide ovde)</a:t>
            </a:r>
          </a:p>
        </p:txBody>
      </p:sp>
    </p:spTree>
    <p:extLst>
      <p:ext uri="{BB962C8B-B14F-4D97-AF65-F5344CB8AC3E}">
        <p14:creationId xmlns:p14="http://schemas.microsoft.com/office/powerpoint/2010/main" val="1940297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0B26F-580C-F0AD-F20F-910CCCAB7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9993B-581B-3FAE-66EF-3F1396EB1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800"/>
              <a:t>Na kojim rutama i kod kojih prevoznika se najčešće, istovremeno, javljaju anomalije, upozorenja sistema i kašnjenja - i kako to utiče na konačan status isporuke?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465A0-4273-35A7-8409-BACCB3EEA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(grafikon ide ovde)</a:t>
            </a:r>
          </a:p>
        </p:txBody>
      </p:sp>
    </p:spTree>
    <p:extLst>
      <p:ext uri="{BB962C8B-B14F-4D97-AF65-F5344CB8AC3E}">
        <p14:creationId xmlns:p14="http://schemas.microsoft.com/office/powerpoint/2010/main" val="1467578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37CCB-F964-A3B4-C9F3-7C46403A4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7E2BF-D683-66BA-F33A-22123A427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800"/>
              <a:t>Koje luke predstavljaju najveće kritične tačke rizika, posmatrano kroz prosečno povećanje rizika, brojeve anomalija i generisanih upozorenja tokom transporta različitih kategorija robe?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32522-AECA-1FB0-B1BA-8E72ECA20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(grafikon ide ovde)</a:t>
            </a:r>
          </a:p>
        </p:txBody>
      </p:sp>
    </p:spTree>
    <p:extLst>
      <p:ext uri="{BB962C8B-B14F-4D97-AF65-F5344CB8AC3E}">
        <p14:creationId xmlns:p14="http://schemas.microsoft.com/office/powerpoint/2010/main" val="1652186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8E0AC-DE63-FBA8-EB7E-29785BF61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F577B-2681-0064-C47E-2799735EF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800"/>
              <a:t>Koje karakteristike pošiljke (vrsta robe, težina, broj kontejnera i način transporta) u kombinaciji sa određenim prevoznikom najviše utiču na pojavu rizičnih događaja tokom transporta?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74E21-885E-5833-D914-04F70A0AB4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(grafikon ide ovde)</a:t>
            </a:r>
          </a:p>
        </p:txBody>
      </p:sp>
    </p:spTree>
    <p:extLst>
      <p:ext uri="{BB962C8B-B14F-4D97-AF65-F5344CB8AC3E}">
        <p14:creationId xmlns:p14="http://schemas.microsoft.com/office/powerpoint/2010/main" val="4174303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14394-CA7E-C45F-0ED5-96C3518F9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BEB48-89AE-089B-FEA2-616DEC945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GB" sz="2800"/>
              <a:t>Koji prevoznici uspevaju da održe nizak nivo rizika kod pošiljaka koje prolaze kroz luke sa visokim nivoom zagušenja i nepovoljnim vremenskim uslovima?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8FAF6-041E-B3CA-FBEF-02A61DE20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(grafikon ide ovde)</a:t>
            </a:r>
          </a:p>
        </p:txBody>
      </p:sp>
    </p:spTree>
    <p:extLst>
      <p:ext uri="{BB962C8B-B14F-4D97-AF65-F5344CB8AC3E}">
        <p14:creationId xmlns:p14="http://schemas.microsoft.com/office/powerpoint/2010/main" val="3153491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1B9EC-5F92-0E3F-3DFC-B28A412EE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C21443-7234-3F7C-2EAF-769B34638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Zaključak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0D70DA-15E3-78A3-C217-8C85A6413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(ukoliko potreban slobodno dodati)</a:t>
            </a:r>
            <a:endParaRPr lang="en-GB">
              <a:latin typeface="Bahnschrift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959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8EC4A-3B9A-C382-1E0F-DA88C3EDA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7939D-F193-8DEE-E8A5-8AEBDF59DA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Analiza pametne logistike globalnog uvoza/izvoza i povezanih ruta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9ECB-37F5-4CE3-F2FC-9B0DD09612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Popović Filip, IN 30/2022</a:t>
            </a:r>
          </a:p>
          <a:p>
            <a:r>
              <a:rPr lang="en-GB"/>
              <a:t>Opančina Ana, IN 40/2022</a:t>
            </a:r>
          </a:p>
        </p:txBody>
      </p:sp>
    </p:spTree>
    <p:extLst>
      <p:ext uri="{BB962C8B-B14F-4D97-AF65-F5344CB8AC3E}">
        <p14:creationId xmlns:p14="http://schemas.microsoft.com/office/powerpoint/2010/main" val="4147935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3">
      <a:majorFont>
        <a:latin typeface="Bahnschrift Light"/>
        <a:ea typeface=""/>
        <a:cs typeface=""/>
      </a:majorFont>
      <a:minorFont>
        <a:latin typeface="Bahnschrift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634</Words>
  <Application>Microsoft Office PowerPoint</Application>
  <PresentationFormat>Widescreen</PresentationFormat>
  <Paragraphs>54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Bahnschrift Light</vt:lpstr>
      <vt:lpstr>Bahnschrift SemiBold</vt:lpstr>
      <vt:lpstr>Bahnschrift SemiLight</vt:lpstr>
      <vt:lpstr>Calibri</vt:lpstr>
      <vt:lpstr>Office Theme</vt:lpstr>
      <vt:lpstr>Analiza pametne logistike globalnog uvoza/izvoza i povezanih ruta</vt:lpstr>
      <vt:lpstr>Uopšteno</vt:lpstr>
      <vt:lpstr>Logistički menadžer</vt:lpstr>
      <vt:lpstr>Koje kombinacije prevoznika i načina transporta konstantno premašuju planirana vremena tranzita i koji nizovi događaja najčešće prethode ovim kašnjenjima? </vt:lpstr>
      <vt:lpstr>Koje karakteristike pošiljke se najčešće povezuju sa pošiljkama čiji se kumulativni tranzitni rizik povećao za više od 30% tokom transporta?</vt:lpstr>
      <vt:lpstr>Koje rute generišu nesrazmerno visoke emisije ugljen-dioksida u odnosu na vrednost pošiljke i prevezenu količinu?</vt:lpstr>
      <vt:lpstr>Koje rute polaska i odredišta imaju najveća kumulativna vremena čekanja u lukama i koliko ovi periodi čekanja doprinose ukupnim kašnjenjima pošiljki?</vt:lpstr>
      <vt:lpstr>Koji tipovi senzora generišu najveće stope otkrivanja anomalija i da li te anomalije prate merljiva povećanja rizika ili kašnjenja u isporuci?</vt:lpstr>
      <vt:lpstr>Menadžer rizika</vt:lpstr>
      <vt:lpstr>Koje kombinacija prevoznika, luka i kategorija robe imaju najveću verovatnoću da proizvedu pošiljke kod kojih je konačni rizik značajno veći od početno procenjenog rizika? </vt:lpstr>
      <vt:lpstr>Na kojim rutama i kod kojih prevoznika se najčešće, istovremeno, javljaju anomalije, upozorenja sistema i kašnjenja - i kako to utiče na konačan status isporuke? </vt:lpstr>
      <vt:lpstr>Koje luke predstavljaju najveće kritične tačke rizika, posmatrano kroz prosečno povećanje rizika, brojeve anomalija i generisanih upozorenja tokom transporta različitih kategorija robe? </vt:lpstr>
      <vt:lpstr>Koje karakteristike pošiljke (vrsta robe, težina, broj kontejnera i način transporta) u kombinaciji sa određenim prevoznikom najviše utiču na pojavu rizičnih događaja tokom transporta? </vt:lpstr>
      <vt:lpstr>Koji prevoznici uspevaju da održe nizak nivo rizika kod pošiljaka koje prolaze kroz luke sa visokim nivoom zagušenja i nepovoljnim vremenskim uslovima?</vt:lpstr>
      <vt:lpstr>Zaključak</vt:lpstr>
      <vt:lpstr>Analiza pametne logistike globalnog uvoza/izvoza i povezanih ruta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Guy the Boy</dc:creator>
  <cp:lastModifiedBy>Guy the Boy</cp:lastModifiedBy>
  <cp:revision>53</cp:revision>
  <dcterms:created xsi:type="dcterms:W3CDTF">2026-07-03T13:12:40Z</dcterms:created>
  <dcterms:modified xsi:type="dcterms:W3CDTF">2026-07-03T14:24:50Z</dcterms:modified>
</cp:coreProperties>
</file>