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9" r:id="rId5"/>
    <p:sldId id="258" r:id="rId6"/>
    <p:sldId id="260" r:id="rId7"/>
    <p:sldId id="261" r:id="rId8"/>
    <p:sldId id="262" r:id="rId9"/>
    <p:sldId id="264" r:id="rId10"/>
    <p:sldId id="263" r:id="rId11"/>
    <p:sldId id="268" r:id="rId12"/>
    <p:sldId id="265" r:id="rId13"/>
    <p:sldId id="267" r:id="rId14"/>
    <p:sldId id="266" r:id="rId15"/>
    <p:sldId id="272" r:id="rId16"/>
    <p:sldId id="273" r:id="rId17"/>
    <p:sldId id="274" r:id="rId18"/>
    <p:sldId id="275" r:id="rId19"/>
    <p:sldId id="276" r:id="rId20"/>
    <p:sldId id="277" r:id="rId21"/>
    <p:sldId id="28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rcRect b="3795"/>
          <a:stretch>
            <a:fillRect/>
          </a:stretch>
        </p:blipFill>
        <p:spPr>
          <a:xfrm>
            <a:off x="0" y="260350"/>
            <a:ext cx="12192000" cy="65976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620713"/>
            <a:ext cx="10943167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1843088"/>
            <a:ext cx="10949517" cy="981075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en-GB" dirty="0"/>
              <a:t>Analiza pametne logistike globalnog uvoza/izvoza i povezanih ruta</a:t>
            </a:r>
            <a:endParaRPr lang="en-US" alt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r-Latn-RS"/>
              <a:t>Ana Opančina IN40/2022</a:t>
            </a:r>
            <a:endParaRPr lang="sr-Latn-RS"/>
          </a:p>
          <a:p>
            <a:r>
              <a:rPr lang="sr-Latn-RS"/>
              <a:t>Filip Popović IN30/2022</a:t>
            </a:r>
            <a:endParaRPr lang="sr-Latn-R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sr-Latn-RS" altLang="en-GB"/>
              <a:t>Opis</a:t>
            </a:r>
            <a:endParaRPr lang="sr-Latn-RS" alt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GB"/>
              <a:t>https://www.kaggle.com/datasets/tharishreddy22/smart-shipment-logistics-and-route-event-monitoring</a:t>
            </a:r>
            <a:endParaRPr lang="en-US" altLang="en-GB"/>
          </a:p>
          <a:p>
            <a:endParaRPr lang="en-US" altLang="en-GB"/>
          </a:p>
          <a:p>
            <a:r>
              <a:rPr lang="en-US" altLang="en-GB"/>
              <a:t>Skup podataka odnosi se na analizu pametne logistike globalnog uvoza i izvoza robe, sa posebnim fokusom na pra</a:t>
            </a:r>
            <a:r>
              <a:rPr lang="en-US" altLang="en-US"/>
              <a:t>ć</a:t>
            </a:r>
            <a:r>
              <a:rPr lang="en-US" altLang="en-GB"/>
              <a:t>enje po</a:t>
            </a:r>
            <a:r>
              <a:rPr lang="en-US" altLang="en-US"/>
              <a:t>š</a:t>
            </a:r>
            <a:r>
              <a:rPr lang="en-US" altLang="en-GB"/>
              <a:t>iljaka, transportnih ruta, logisti</a:t>
            </a:r>
            <a:r>
              <a:rPr lang="en-US" altLang="en-US"/>
              <a:t>č</a:t>
            </a:r>
            <a:r>
              <a:rPr lang="en-US" altLang="en-GB"/>
              <a:t>kih doga</a:t>
            </a:r>
            <a:r>
              <a:rPr lang="en-US" altLang="en-US"/>
              <a:t>đ</a:t>
            </a:r>
            <a:r>
              <a:rPr lang="en-US" altLang="en-GB"/>
              <a:t>aja i procenu rizika tokom transporta. </a:t>
            </a:r>
            <a:endParaRPr lang="en-US" altLang="en-GB"/>
          </a:p>
          <a:p>
            <a:endParaRPr lang="en-US" alt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GB"/>
              <a:t>Skup podataka se sastoji od dve CSV datoteke povezane atributom shipment_id.</a:t>
            </a:r>
            <a:endParaRPr lang="en-US" altLang="en-GB"/>
          </a:p>
          <a:p>
            <a:r>
              <a:rPr lang="sr-Latn-RS" altLang="en-US"/>
              <a:t>Obe d</a:t>
            </a:r>
            <a:r>
              <a:rPr lang="en-US" altLang="en-GB"/>
              <a:t>atotek</a:t>
            </a:r>
            <a:r>
              <a:rPr lang="sr-Latn-RS" altLang="en-US"/>
              <a:t>e,</a:t>
            </a:r>
            <a:r>
              <a:rPr lang="en-US" altLang="en-GB"/>
              <a:t> route_events</a:t>
            </a:r>
            <a:r>
              <a:rPr lang="sr-Latn-RS" altLang="en-US"/>
              <a:t> i </a:t>
            </a:r>
            <a:r>
              <a:rPr lang="en-US" altLang="en-GB"/>
              <a:t> </a:t>
            </a:r>
            <a:r>
              <a:rPr lang="sr-Latn-RS" altLang="en-GB">
                <a:sym typeface="+mn-ea"/>
              </a:rPr>
              <a:t>shipments_master, </a:t>
            </a:r>
            <a:r>
              <a:rPr lang="en-US" altLang="en-GB"/>
              <a:t>sad</a:t>
            </a:r>
            <a:r>
              <a:rPr lang="sr-Latn-RS" altLang="en-GB"/>
              <a:t>rže 5 000 000 zapisa.</a:t>
            </a:r>
            <a:endParaRPr lang="sr-Latn-RS" altLang="en-GB"/>
          </a:p>
          <a:p>
            <a:pPr marL="0" indent="0">
              <a:buNone/>
            </a:pPr>
            <a:endParaRPr lang="sr-Latn-RS" altLang="en-GB"/>
          </a:p>
          <a:p>
            <a:endParaRPr lang="sr-Latn-RS" alt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/>
              <a:t>Semantika kolona</a:t>
            </a:r>
            <a:r>
              <a:rPr lang="sr-Latn-RS" altLang="en-US"/>
              <a:t> </a:t>
            </a:r>
            <a:r>
              <a:rPr lang="en-US" altLang="en-GB"/>
              <a:t>shipments_master.csv</a:t>
            </a:r>
            <a:endParaRPr lang="en-US" altLang="en-GB"/>
          </a:p>
        </p:txBody>
      </p:sp>
      <p:graphicFrame>
        <p:nvGraphicFramePr>
          <p:cNvPr id="6" name="Content Placeholder 5"/>
          <p:cNvGraphicFramePr/>
          <p:nvPr>
            <p:ph idx="1"/>
            <p:custDataLst>
              <p:tags r:id="rId1"/>
            </p:custDataLst>
          </p:nvPr>
        </p:nvGraphicFramePr>
        <p:xfrm>
          <a:off x="838200" y="1945640"/>
          <a:ext cx="8564880" cy="416052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807970"/>
                <a:gridCol w="5756910"/>
              </a:tblGrid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shipment_id</a:t>
                      </a:r>
                      <a:endParaRPr lang="en-US" altLang="en-GB" b="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jedinstveni identifikator po</a:t>
                      </a:r>
                      <a:r>
                        <a:rPr lang="en-US" altLang="en-US" b="0"/>
                        <a:t>š</a:t>
                      </a:r>
                      <a:r>
                        <a:rPr lang="en-US" altLang="en-GB" b="0"/>
                        <a:t>iljke </a:t>
                      </a:r>
                      <a:endParaRPr lang="en-US" altLang="en-GB" b="0"/>
                    </a:p>
                  </a:txBody>
                  <a:tcPr/>
                </a:tc>
              </a:tr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carrier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prevoznik</a:t>
                      </a:r>
                      <a:endParaRPr lang="sr-Latn-RS" altLang="en-GB"/>
                    </a:p>
                  </a:txBody>
                  <a:tcPr/>
                </a:tc>
              </a:tr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origin_port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polazna luka</a:t>
                      </a:r>
                      <a:endParaRPr lang="en-US" altLang="en-GB"/>
                    </a:p>
                  </a:txBody>
                  <a:tcPr/>
                </a:tc>
              </a:tr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destination_port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odredi</a:t>
                      </a:r>
                      <a:r>
                        <a:rPr lang="en-US" altLang="en-US"/>
                        <a:t>š</a:t>
                      </a:r>
                      <a:r>
                        <a:rPr lang="en-US" altLang="en-GB"/>
                        <a:t>na luka</a:t>
                      </a:r>
                      <a:endParaRPr lang="en-US" altLang="en-GB"/>
                    </a:p>
                  </a:txBody>
                  <a:tcPr/>
                </a:tc>
              </a:tr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transport_mode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na</a:t>
                      </a:r>
                      <a:r>
                        <a:rPr lang="en-US" altLang="en-US"/>
                        <a:t>č</a:t>
                      </a:r>
                      <a:r>
                        <a:rPr lang="en-US" altLang="en-GB"/>
                        <a:t>in transporta (pomorski, drumski, </a:t>
                      </a:r>
                      <a:r>
                        <a:rPr lang="en-US" altLang="en-US"/>
                        <a:t>ž</a:t>
                      </a:r>
                      <a:r>
                        <a:rPr lang="en-US" altLang="en-GB"/>
                        <a:t>elezni</a:t>
                      </a:r>
                      <a:r>
                        <a:rPr lang="en-US" altLang="en-US"/>
                        <a:t>č</a:t>
                      </a:r>
                      <a:r>
                        <a:rPr lang="en-US" altLang="en-GB"/>
                        <a:t>ki i sli</a:t>
                      </a:r>
                      <a:r>
                        <a:rPr lang="en-US" altLang="en-US"/>
                        <a:t>č</a:t>
                      </a:r>
                      <a:r>
                        <a:rPr lang="en-US" altLang="en-GB"/>
                        <a:t>no)</a:t>
                      </a:r>
                      <a:endParaRPr lang="en-US" altLang="en-GB"/>
                    </a:p>
                  </a:txBody>
                  <a:tcPr/>
                </a:tc>
              </a:tr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status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trenutni status pošiljke</a:t>
                      </a:r>
                      <a:endParaRPr lang="sr-Latn-RS" altLang="en-GB"/>
                    </a:p>
                  </a:txBody>
                  <a:tcPr/>
                </a:tc>
              </a:tr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goods_category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kategorija robe</a:t>
                      </a:r>
                      <a:endParaRPr lang="sr-Latn-RS" altLang="en-GB"/>
                    </a:p>
                  </a:txBody>
                  <a:tcPr/>
                </a:tc>
              </a:tr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created_date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datum kreiranja pošiljke</a:t>
                      </a:r>
                      <a:endParaRPr lang="sr-Latn-RS" altLang="en-GB"/>
                    </a:p>
                  </a:txBody>
                  <a:tcPr/>
                </a:tc>
              </a:tr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eta_date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o</a:t>
                      </a:r>
                      <a:r>
                        <a:rPr lang="en-US" altLang="en-US"/>
                        <a:t>č</a:t>
                      </a:r>
                      <a:r>
                        <a:rPr lang="en-US" altLang="en-GB"/>
                        <a:t>ekivani datum isporuke</a:t>
                      </a:r>
                      <a:endParaRPr lang="en-US" altLang="en-GB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sr-Latn-RS" altLang="en-GB"/>
              <a:t>Semantika kolona </a:t>
            </a:r>
            <a:r>
              <a:rPr lang="en-US" altLang="en-GB"/>
              <a:t>shipments_master.csv</a:t>
            </a:r>
            <a:endParaRPr lang="en-US" altLang="en-GB"/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1"/>
            </p:custDataLst>
          </p:nvPr>
        </p:nvGraphicFramePr>
        <p:xfrm>
          <a:off x="838200" y="1946910"/>
          <a:ext cx="7908290" cy="38252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879090"/>
                <a:gridCol w="5029200"/>
              </a:tblGrid>
              <a:tr h="461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distance_km</a:t>
                      </a:r>
                      <a:endParaRPr lang="en-US" altLang="en-GB" b="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ukupna transportna udaljenost</a:t>
                      </a:r>
                      <a:endParaRPr lang="en-US" altLang="en-GB" b="0"/>
                    </a:p>
                  </a:txBody>
                  <a:tcPr/>
                </a:tc>
              </a:tr>
              <a:tr h="461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weight_kg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težina robe</a:t>
                      </a:r>
                      <a:endParaRPr lang="sr-Latn-RS" altLang="en-GB"/>
                    </a:p>
                  </a:txBody>
                  <a:tcPr/>
                </a:tc>
              </a:tr>
              <a:tr h="46101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value_usd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vrednost robe u ameri</a:t>
                      </a:r>
                      <a:r>
                        <a:rPr lang="en-US" altLang="en-US"/>
                        <a:t>č</a:t>
                      </a:r>
                      <a:r>
                        <a:rPr lang="en-US" altLang="en-GB"/>
                        <a:t>kim dolarima</a:t>
                      </a:r>
                      <a:endParaRPr lang="en-US" altLang="en-GB"/>
                    </a:p>
                  </a:txBody>
                  <a:tcPr/>
                </a:tc>
              </a:tr>
              <a:tr h="461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freight_cost_usd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tro</a:t>
                      </a:r>
                      <a:r>
                        <a:rPr lang="en-US" altLang="en-US"/>
                        <a:t>š</a:t>
                      </a:r>
                      <a:r>
                        <a:rPr lang="en-US" altLang="en-GB"/>
                        <a:t>kovi transporta</a:t>
                      </a:r>
                      <a:endParaRPr lang="en-US" altLang="en-GB"/>
                    </a:p>
                  </a:txBody>
                  <a:tcPr/>
                </a:tc>
              </a:tr>
              <a:tr h="461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delay_hours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ukupno ka</a:t>
                      </a:r>
                      <a:r>
                        <a:rPr lang="en-US" altLang="en-US"/>
                        <a:t>š</a:t>
                      </a:r>
                      <a:r>
                        <a:rPr lang="en-US" altLang="en-GB"/>
                        <a:t>njenje</a:t>
                      </a:r>
                      <a:endParaRPr lang="en-US" altLang="en-GB"/>
                    </a:p>
                  </a:txBody>
                  <a:tcPr/>
                </a:tc>
              </a:tr>
              <a:tr h="461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risk_score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procena rizika</a:t>
                      </a:r>
                      <a:endParaRPr lang="sr-Latn-RS" altLang="en-GB"/>
                    </a:p>
                  </a:txBody>
                  <a:tcPr/>
                </a:tc>
              </a:tr>
              <a:tr h="5943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weather_severity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intenzitet nepovoljnih vremenskih uslova</a:t>
                      </a:r>
                      <a:endParaRPr lang="en-US" altLang="en-GB"/>
                    </a:p>
                  </a:txBody>
                  <a:tcPr/>
                </a:tc>
              </a:tr>
              <a:tr h="461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port_congestion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nivo zagušenja luke</a:t>
                      </a:r>
                      <a:endParaRPr lang="sr-Latn-RS" altLang="en-GB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sr-Latn-RS" altLang="en-GB"/>
              <a:t>Semantika kolona </a:t>
            </a:r>
            <a:r>
              <a:rPr lang="en-US" altLang="en-GB"/>
              <a:t>route_events.csv</a:t>
            </a:r>
            <a:endParaRPr lang="en-US" altLang="en-GB"/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1"/>
            </p:custDataLst>
          </p:nvPr>
        </p:nvGraphicFramePr>
        <p:xfrm>
          <a:off x="838200" y="1856105"/>
          <a:ext cx="7907655" cy="339471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184400"/>
                <a:gridCol w="5723255"/>
              </a:tblGrid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event_id</a:t>
                      </a:r>
                      <a:endParaRPr lang="en-GB" altLang="en-US" b="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jedinstveni identifikator doga</a:t>
                      </a:r>
                      <a:r>
                        <a:rPr lang="en-US" altLang="en-US" b="0"/>
                        <a:t>đ</a:t>
                      </a:r>
                      <a:r>
                        <a:rPr lang="en-US" altLang="en-GB" b="0"/>
                        <a:t>aja</a:t>
                      </a:r>
                      <a:endParaRPr lang="en-US" altLang="en-GB" b="0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shipment_id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identifikator po</a:t>
                      </a:r>
                      <a:r>
                        <a:rPr lang="en-US" altLang="en-US"/>
                        <a:t>š</a:t>
                      </a:r>
                      <a:r>
                        <a:rPr lang="en-US" altLang="en-GB"/>
                        <a:t>iljke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event_type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tip doga</a:t>
                      </a:r>
                      <a:r>
                        <a:rPr lang="en-US" altLang="en-US"/>
                        <a:t>đ</a:t>
                      </a:r>
                      <a:r>
                        <a:rPr lang="en-US" altLang="en-GB"/>
                        <a:t>aja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event_timestamp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vreme nastanka doga</a:t>
                      </a:r>
                      <a:r>
                        <a:rPr lang="en-US" altLang="en-US"/>
                        <a:t>đ</a:t>
                      </a:r>
                      <a:r>
                        <a:rPr lang="en-US" altLang="en-GB"/>
                        <a:t>aja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location_name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lokacija doga</a:t>
                      </a:r>
                      <a:r>
                        <a:rPr lang="en-US" altLang="en-US"/>
                        <a:t>đ</a:t>
                      </a:r>
                      <a:r>
                        <a:rPr lang="en-US" altLang="en-GB"/>
                        <a:t>aja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latitude, longitude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geografske koordinate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speed_knots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brzina transportnog sredstva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heading_deg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smer kretanja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temperature_c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temperatura</a:t>
                      </a:r>
                      <a:endParaRPr lang="en-US" altLang="en-GB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sr-Latn-RS" altLang="en-GB">
                <a:sym typeface="+mn-ea"/>
              </a:rPr>
              <a:t>Semantika kolona </a:t>
            </a:r>
            <a:r>
              <a:rPr lang="en-US" altLang="en-GB">
                <a:sym typeface="+mn-ea"/>
              </a:rPr>
              <a:t>route_events.csv</a:t>
            </a:r>
            <a:endParaRPr lang="en-GB" altLang="en-US"/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1"/>
            </p:custDataLst>
          </p:nvPr>
        </p:nvGraphicFramePr>
        <p:xfrm>
          <a:off x="838200" y="1825625"/>
          <a:ext cx="10515600" cy="414909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905125"/>
                <a:gridCol w="7610475"/>
              </a:tblGrid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humidity_pct</a:t>
                      </a:r>
                      <a:endParaRPr lang="en-US" altLang="en-GB" b="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vla</a:t>
                      </a:r>
                      <a:r>
                        <a:rPr lang="en-US" altLang="en-US" b="0"/>
                        <a:t>ž</a:t>
                      </a:r>
                      <a:r>
                        <a:rPr lang="en-US" altLang="en-GB" b="0"/>
                        <a:t>nost vazduha</a:t>
                      </a:r>
                      <a:endParaRPr lang="en-US" altLang="en-GB" b="0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shock_g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nivo vibracija ili udara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delay_added_hours 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dodatno ka</a:t>
                      </a:r>
                      <a:r>
                        <a:rPr lang="en-US" altLang="en-US"/>
                        <a:t>š</a:t>
                      </a:r>
                      <a:r>
                        <a:rPr lang="en-US" altLang="en-GB"/>
                        <a:t>njenje izazvano doga</a:t>
                      </a:r>
                      <a:r>
                        <a:rPr lang="en-US" altLang="en-US"/>
                        <a:t>đ</a:t>
                      </a:r>
                      <a:r>
                        <a:rPr lang="en-US" altLang="en-GB"/>
                        <a:t>ajem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risk_score_delta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promena nivoa rizika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port_wait_hours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vreme </a:t>
                      </a:r>
                      <a:r>
                        <a:rPr lang="en-US" altLang="en-US"/>
                        <a:t>č</a:t>
                      </a:r>
                      <a:r>
                        <a:rPr lang="en-US" altLang="en-GB"/>
                        <a:t>ekanja u luci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fuel_consumed_lt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potro</a:t>
                      </a:r>
                      <a:r>
                        <a:rPr lang="en-US" altLang="en-US"/>
                        <a:t>š</a:t>
                      </a:r>
                      <a:r>
                        <a:rPr lang="en-US" altLang="en-GB"/>
                        <a:t>nja goriva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co2_kg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emisija ugljen-dioksida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sensor_type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tip senzora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signal_quality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kvalitet signala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anomaly_flag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indikator anomalije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alert_sent 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indikator poslatog upozorenja </a:t>
                      </a:r>
                      <a:endParaRPr lang="en-US" altLang="en-GB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sr-Latn-RS" altLang="en-GB"/>
              <a:t>Primer prostiranja</a:t>
            </a:r>
            <a:endParaRPr lang="sr-Latn-RS" alt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sr-Latn-RS" altLang="en-GB"/>
              <a:t>shipment_id</a:t>
            </a:r>
            <a:endParaRPr lang="sr-Latn-RS" altLang="en-GB"/>
          </a:p>
          <a:p>
            <a:r>
              <a:rPr lang="sr-Latn-RS" altLang="en-GB"/>
              <a:t>isporuka (0-*)                           (1-*) događaj na ruti </a:t>
            </a:r>
            <a:endParaRPr lang="sr-Latn-RS" altLang="en-GB"/>
          </a:p>
          <a:p>
            <a:endParaRPr lang="sr-Latn-RS" altLang="en-GB"/>
          </a:p>
        </p:txBody>
      </p:sp>
      <p:cxnSp>
        <p:nvCxnSpPr>
          <p:cNvPr id="4" name="Straight Connector 3"/>
          <p:cNvCxnSpPr/>
          <p:nvPr/>
        </p:nvCxnSpPr>
        <p:spPr>
          <a:xfrm>
            <a:off x="3554730" y="2063750"/>
            <a:ext cx="2843784" cy="7620"/>
          </a:xfrm>
          <a:prstGeom prst="line">
            <a:avLst/>
          </a:prstGeom>
          <a:ln w="31750" cap="rnd">
            <a:solidFill>
              <a:schemeClr val="accent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/>
              <a:t>Predlog logi</a:t>
            </a:r>
            <a:r>
              <a:rPr lang="sr-Latn-RS" altLang="en-GB"/>
              <a:t>čke šeme</a:t>
            </a:r>
            <a:endParaRPr lang="sr-Latn-RS" alt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GB" sz="2800"/>
              <a:t>Logi</a:t>
            </a:r>
            <a:r>
              <a:rPr lang="" altLang="en-US" sz="2800"/>
              <a:t>č</a:t>
            </a:r>
            <a:r>
              <a:rPr lang="en-US" altLang="en-GB" sz="2800"/>
              <a:t>ka </a:t>
            </a:r>
            <a:r>
              <a:rPr lang="" altLang="en-US" sz="2800"/>
              <a:t>š</a:t>
            </a:r>
            <a:r>
              <a:rPr lang="en-US" altLang="en-GB" sz="2800"/>
              <a:t>ema bi se sastojala od slede</a:t>
            </a:r>
            <a:r>
              <a:rPr lang="" altLang="en-US" sz="2800"/>
              <a:t>ć</a:t>
            </a:r>
            <a:r>
              <a:rPr lang="en-US" altLang="en-GB" sz="2800"/>
              <a:t>ih kolekcija:</a:t>
            </a:r>
            <a:endParaRPr lang="en-US" altLang="en-GB" sz="2800"/>
          </a:p>
          <a:p>
            <a:r>
              <a:rPr lang="en-US" altLang="en-GB" sz="2800"/>
              <a:t>route_events:</a:t>
            </a:r>
            <a:endParaRPr lang="en-US" altLang="en-US" sz="2800"/>
          </a:p>
          <a:p>
            <a:r>
              <a:rPr lang="sr-Latn-RS" altLang="en-US" sz="2800"/>
              <a:t>- </a:t>
            </a:r>
            <a:r>
              <a:rPr lang="en-US" altLang="en-GB" sz="2800"/>
              <a:t>event_id</a:t>
            </a:r>
            <a:endParaRPr lang="en-US" altLang="en-GB" sz="2800"/>
          </a:p>
          <a:p>
            <a:r>
              <a:rPr lang="sr-Latn-RS" altLang="en-US" sz="2800"/>
              <a:t>-</a:t>
            </a:r>
            <a:r>
              <a:rPr lang="en-US" altLang="en-GB" sz="2800"/>
              <a:t> shipment_id</a:t>
            </a:r>
            <a:endParaRPr lang="en-US" altLang="en-US" sz="2800"/>
          </a:p>
          <a:p>
            <a:r>
              <a:rPr lang="sr-Latn-RS" altLang="en-US" sz="2800"/>
              <a:t>-</a:t>
            </a:r>
            <a:r>
              <a:rPr lang="en-US" altLang="en-GB" sz="2800"/>
              <a:t> doga</a:t>
            </a:r>
            <a:r>
              <a:rPr lang="" altLang="en-US" sz="2800"/>
              <a:t>đ</a:t>
            </a:r>
            <a:r>
              <a:rPr lang="en-US" altLang="en-GB" sz="2800"/>
              <a:t>aj</a:t>
            </a:r>
            <a:endParaRPr lang="en-US" altLang="en-GB" sz="2800"/>
          </a:p>
          <a:p>
            <a:r>
              <a:rPr lang="sr-Latn-RS" altLang="en-US" sz="2800"/>
              <a:t>  --</a:t>
            </a:r>
            <a:r>
              <a:rPr lang="en-US" altLang="en-GB" sz="2800"/>
              <a:t> event_type</a:t>
            </a:r>
            <a:endParaRPr lang="en-US" altLang="en-GB" sz="2800"/>
          </a:p>
          <a:p>
            <a:r>
              <a:rPr lang="sr-Latn-RS" altLang="en-US" sz="2800"/>
              <a:t>  --</a:t>
            </a:r>
            <a:r>
              <a:rPr lang="en-US" altLang="en-GB" sz="2800"/>
              <a:t> event_timestamp</a:t>
            </a:r>
            <a:endParaRPr lang="en-US" altLang="en-US" sz="2800"/>
          </a:p>
          <a:p>
            <a:endParaRPr lang="en-US" altLang="en-US" sz="2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GB"/>
              <a:t>- lokacija</a:t>
            </a:r>
            <a:endParaRPr lang="en-US" altLang="en-GB"/>
          </a:p>
          <a:p>
            <a:r>
              <a:rPr lang="sr-Latn-RS" altLang="en-US"/>
              <a:t>  </a:t>
            </a:r>
            <a:r>
              <a:rPr lang="en-US" altLang="en-GB"/>
              <a:t>-- location_name</a:t>
            </a:r>
            <a:endParaRPr lang="en-US" altLang="en-GB"/>
          </a:p>
          <a:p>
            <a:r>
              <a:rPr lang="sr-Latn-RS" altLang="en-US"/>
              <a:t>  </a:t>
            </a:r>
            <a:r>
              <a:rPr lang="en-US" altLang="en-GB"/>
              <a:t>-- latitude</a:t>
            </a:r>
            <a:endParaRPr lang="en-US" altLang="en-GB"/>
          </a:p>
          <a:p>
            <a:r>
              <a:rPr lang="sr-Latn-RS" altLang="en-US"/>
              <a:t>  </a:t>
            </a:r>
            <a:r>
              <a:rPr lang="en-US" altLang="en-GB"/>
              <a:t>-- longitude</a:t>
            </a:r>
            <a:endParaRPr lang="en-US" altLang="en-GB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sr-Latn-RS" altLang="en-US" sz="2800">
                <a:sym typeface="+mn-ea"/>
              </a:rPr>
              <a:t>- </a:t>
            </a:r>
            <a:r>
              <a:rPr lang="en-US" altLang="en-GB" sz="2800">
                <a:sym typeface="+mn-ea"/>
              </a:rPr>
              <a:t>kretanje</a:t>
            </a:r>
            <a:endParaRPr lang="en-US" altLang="en-GB" sz="2800"/>
          </a:p>
          <a:p>
            <a:r>
              <a:rPr lang="sr-Latn-RS" altLang="en-US" sz="2800">
                <a:sym typeface="+mn-ea"/>
              </a:rPr>
              <a:t>  --</a:t>
            </a:r>
            <a:r>
              <a:rPr lang="en-US" altLang="en-GB" sz="2800">
                <a:sym typeface="+mn-ea"/>
              </a:rPr>
              <a:t> speed_knots</a:t>
            </a:r>
            <a:endParaRPr lang="en-US" altLang="en-GB" sz="2800">
              <a:sym typeface="+mn-ea"/>
            </a:endParaRPr>
          </a:p>
          <a:p>
            <a:r>
              <a:rPr lang="sr-Latn-RS" altLang="en-US" sz="2800">
                <a:sym typeface="+mn-ea"/>
              </a:rPr>
              <a:t>  -- h</a:t>
            </a:r>
            <a:r>
              <a:rPr lang="en-US" altLang="en-GB" sz="2800">
                <a:sym typeface="+mn-ea"/>
              </a:rPr>
              <a:t>eading_deg</a:t>
            </a:r>
            <a:endParaRPr lang="en-US" altLang="en-GB" sz="2800">
              <a:sym typeface="+mn-ea"/>
            </a:endParaRPr>
          </a:p>
          <a:p>
            <a:r>
              <a:rPr lang="sr-Latn-RS" altLang="en-US" sz="2800">
                <a:sym typeface="+mn-ea"/>
              </a:rPr>
              <a:t>-</a:t>
            </a:r>
            <a:r>
              <a:rPr lang="en-US" altLang="en-GB" sz="2800">
                <a:sym typeface="+mn-ea"/>
              </a:rPr>
              <a:t> podaci sa senzora</a:t>
            </a:r>
            <a:endParaRPr lang="en-US" altLang="en-GB" sz="2800">
              <a:sym typeface="+mn-ea"/>
            </a:endParaRPr>
          </a:p>
          <a:p>
            <a:r>
              <a:rPr lang="sr-Latn-RS" altLang="en-US" sz="2800">
                <a:sym typeface="+mn-ea"/>
              </a:rPr>
              <a:t>  --</a:t>
            </a:r>
            <a:r>
              <a:rPr lang="en-US" altLang="en-GB" sz="2800">
                <a:sym typeface="+mn-ea"/>
              </a:rPr>
              <a:t> sensor_type</a:t>
            </a:r>
            <a:endParaRPr lang="en-US" altLang="en-GB" sz="2800"/>
          </a:p>
          <a:p>
            <a:r>
              <a:rPr lang="sr-Latn-RS" altLang="en-US" sz="2800">
                <a:sym typeface="+mn-ea"/>
              </a:rPr>
              <a:t>  --</a:t>
            </a:r>
            <a:r>
              <a:rPr lang="en-US" altLang="en-GB" sz="2800">
                <a:sym typeface="+mn-ea"/>
              </a:rPr>
              <a:t> signal_quality</a:t>
            </a:r>
            <a:endParaRPr lang="en-US" altLang="en-GB" sz="2800"/>
          </a:p>
          <a:p>
            <a:r>
              <a:rPr lang="sr-Latn-RS" altLang="en-US" sz="2800">
                <a:sym typeface="+mn-ea"/>
              </a:rPr>
              <a:t>  --</a:t>
            </a:r>
            <a:r>
              <a:rPr lang="en-US" altLang="en-GB" sz="2800">
                <a:sym typeface="+mn-ea"/>
              </a:rPr>
              <a:t> temperature_c</a:t>
            </a:r>
            <a:endParaRPr lang="en-US" altLang="en-GB" sz="2800"/>
          </a:p>
          <a:p>
            <a:r>
              <a:rPr lang="sr-Latn-RS" altLang="en-US" sz="2800">
                <a:sym typeface="+mn-ea"/>
              </a:rPr>
              <a:t>  --</a:t>
            </a:r>
            <a:r>
              <a:rPr lang="en-US" altLang="en-GB" sz="2800">
                <a:sym typeface="+mn-ea"/>
              </a:rPr>
              <a:t> humidity_pct</a:t>
            </a:r>
            <a:endParaRPr lang="en-US" altLang="en-GB" sz="2800"/>
          </a:p>
          <a:p>
            <a:r>
              <a:rPr lang="sr-Latn-RS" altLang="en-US" sz="2800">
                <a:sym typeface="+mn-ea"/>
              </a:rPr>
              <a:t>  --</a:t>
            </a:r>
            <a:r>
              <a:rPr lang="en-US" altLang="en-GB" sz="2800">
                <a:sym typeface="+mn-ea"/>
              </a:rPr>
              <a:t> shock_g</a:t>
            </a:r>
            <a:endParaRPr lang="en-US" altLang="en-GB" sz="2800">
              <a:sym typeface="+mn-ea"/>
            </a:endParaRPr>
          </a:p>
          <a:p>
            <a:endParaRPr lang="en-US" altLang="en-GB" sz="2800"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sr-Latn-RS" altLang="en-US">
                <a:sym typeface="+mn-ea"/>
              </a:rPr>
              <a:t>-</a:t>
            </a:r>
            <a:r>
              <a:rPr lang="en-US" altLang="en-GB">
                <a:sym typeface="+mn-ea"/>
              </a:rPr>
              <a:t> operativni uticaj</a:t>
            </a:r>
            <a:endParaRPr lang="en-US" altLang="en-GB"/>
          </a:p>
          <a:p>
            <a:r>
              <a:rPr lang="sr-Latn-RS" altLang="en-US">
                <a:sym typeface="+mn-ea"/>
              </a:rPr>
              <a:t>  --</a:t>
            </a:r>
            <a:r>
              <a:rPr lang="en-US" altLang="en-GB">
                <a:sym typeface="+mn-ea"/>
              </a:rPr>
              <a:t> delay_added_hours</a:t>
            </a:r>
            <a:endParaRPr lang="en-US" altLang="en-GB"/>
          </a:p>
          <a:p>
            <a:r>
              <a:rPr lang="sr-Latn-RS" altLang="en-US">
                <a:sym typeface="+mn-ea"/>
              </a:rPr>
              <a:t>  --</a:t>
            </a:r>
            <a:r>
              <a:rPr lang="en-US" altLang="en-GB">
                <a:sym typeface="+mn-ea"/>
              </a:rPr>
              <a:t> port_wait_hours</a:t>
            </a:r>
            <a:endParaRPr lang="en-US" altLang="en-GB"/>
          </a:p>
          <a:p>
            <a:r>
              <a:rPr lang="sr-Latn-RS" altLang="en-US">
                <a:sym typeface="+mn-ea"/>
              </a:rPr>
              <a:t>  --</a:t>
            </a:r>
            <a:r>
              <a:rPr lang="en-US" altLang="en-GB">
                <a:sym typeface="+mn-ea"/>
              </a:rPr>
              <a:t> risk_score_delta</a:t>
            </a:r>
            <a:endParaRPr lang="en-GB" altLang="en-US"/>
          </a:p>
          <a:p>
            <a:endParaRPr lang="en-GB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sr-Latn-RS" altLang="en-US"/>
              <a:t>-</a:t>
            </a:r>
            <a:r>
              <a:rPr lang="en-US" altLang="en-GB"/>
              <a:t> uticaj na </a:t>
            </a:r>
            <a:r>
              <a:rPr lang="" altLang="en-US"/>
              <a:t>ž</a:t>
            </a:r>
            <a:r>
              <a:rPr lang="en-US" altLang="en-GB"/>
              <a:t>ivotnu sredinu</a:t>
            </a:r>
            <a:endParaRPr lang="en-US" altLang="en-GB"/>
          </a:p>
          <a:p>
            <a:r>
              <a:rPr lang="sr-Latn-RS" altLang="en-US"/>
              <a:t>  --</a:t>
            </a:r>
            <a:r>
              <a:rPr lang="en-US" altLang="en-GB"/>
              <a:t> fuel_consumed_lt</a:t>
            </a:r>
            <a:endParaRPr lang="en-US" altLang="en-GB"/>
          </a:p>
          <a:p>
            <a:r>
              <a:rPr lang="sr-Latn-RS" altLang="en-US"/>
              <a:t>  --</a:t>
            </a:r>
            <a:r>
              <a:rPr lang="en-US" altLang="en-GB"/>
              <a:t> co2_kg</a:t>
            </a:r>
            <a:endParaRPr lang="en-US" altLang="en-GB"/>
          </a:p>
          <a:p>
            <a:r>
              <a:rPr lang="sr-Latn-RS" altLang="en-US"/>
              <a:t>-</a:t>
            </a:r>
            <a:r>
              <a:rPr lang="en-US" altLang="en-GB"/>
              <a:t> pra</a:t>
            </a:r>
            <a:r>
              <a:rPr lang="" altLang="en-US"/>
              <a:t>ć</a:t>
            </a:r>
            <a:r>
              <a:rPr lang="en-US" altLang="en-GB"/>
              <a:t>enje</a:t>
            </a:r>
            <a:endParaRPr lang="en-US" altLang="en-GB"/>
          </a:p>
          <a:p>
            <a:r>
              <a:rPr lang="sr-Latn-RS" altLang="en-US"/>
              <a:t>  -- </a:t>
            </a:r>
            <a:r>
              <a:rPr lang="en-US" altLang="en-GB"/>
              <a:t>anomaly_flag</a:t>
            </a:r>
            <a:endParaRPr lang="en-US" altLang="en-GB"/>
          </a:p>
          <a:p>
            <a:r>
              <a:rPr lang="sr-Latn-RS" altLang="en-US"/>
              <a:t>  --</a:t>
            </a:r>
            <a:r>
              <a:rPr lang="en-US" altLang="en-GB"/>
              <a:t> alert_sent</a:t>
            </a:r>
            <a:endParaRPr lang="en-US" altLang="en-GB"/>
          </a:p>
          <a:p>
            <a:endParaRPr lang="en-US" altLang="en-GB"/>
          </a:p>
          <a:p>
            <a:endParaRPr lang="en-US" altLang="en-GB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GB"/>
              <a:t>shipments (isporuke):</a:t>
            </a:r>
            <a:endParaRPr lang="en-US" altLang="en-US"/>
          </a:p>
          <a:p>
            <a:r>
              <a:rPr lang="sr-Latn-RS" altLang="en-US"/>
              <a:t>-</a:t>
            </a:r>
            <a:r>
              <a:rPr lang="en-US" altLang="en-GB"/>
              <a:t> shipment_id</a:t>
            </a:r>
            <a:endParaRPr lang="en-US" altLang="en-GB"/>
          </a:p>
          <a:p>
            <a:r>
              <a:rPr lang="sr-Latn-RS" altLang="en-US"/>
              <a:t>-</a:t>
            </a:r>
            <a:r>
              <a:rPr lang="en-US" altLang="en-GB"/>
              <a:t> osnovni podaci</a:t>
            </a:r>
            <a:endParaRPr lang="en-US" altLang="en-GB"/>
          </a:p>
          <a:p>
            <a:r>
              <a:rPr lang="sr-Latn-RS" altLang="en-US"/>
              <a:t>  --</a:t>
            </a:r>
            <a:r>
              <a:rPr lang="en-US" altLang="en-GB"/>
              <a:t> carrier</a:t>
            </a:r>
            <a:endParaRPr lang="en-US" altLang="en-GB"/>
          </a:p>
          <a:p>
            <a:r>
              <a:rPr lang="sr-Latn-RS" altLang="en-US"/>
              <a:t>  --</a:t>
            </a:r>
            <a:r>
              <a:rPr lang="en-US" altLang="en-GB"/>
              <a:t> transport_mode</a:t>
            </a:r>
            <a:endParaRPr lang="en-US" altLang="en-GB"/>
          </a:p>
          <a:p>
            <a:r>
              <a:rPr lang="sr-Latn-RS" altLang="en-US"/>
              <a:t>  --</a:t>
            </a:r>
            <a:r>
              <a:rPr lang="en-US" altLang="en-GB"/>
              <a:t> goods_category</a:t>
            </a:r>
            <a:endParaRPr lang="en-US" altLang="en-GB"/>
          </a:p>
          <a:p>
            <a:r>
              <a:rPr lang="sr-Latn-RS" altLang="en-US"/>
              <a:t>  --</a:t>
            </a:r>
            <a:r>
              <a:rPr lang="en-US" altLang="en-GB"/>
              <a:t> status</a:t>
            </a:r>
            <a:endParaRPr lang="en-US" altLang="en-GB"/>
          </a:p>
          <a:p>
            <a:r>
              <a:rPr lang="sr-Latn-RS" altLang="en-US"/>
              <a:t>  --</a:t>
            </a:r>
            <a:r>
              <a:rPr lang="en-US" altLang="en-GB"/>
              <a:t> priority_level</a:t>
            </a:r>
            <a:endParaRPr lang="en-US" altLang="en-GB"/>
          </a:p>
          <a:p>
            <a:endParaRPr lang="en-US" altLang="en-GB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sr-Latn-RS" altLang="en-US"/>
              <a:t>- </a:t>
            </a:r>
            <a:r>
              <a:rPr lang="en-US" altLang="en-GB"/>
              <a:t>podaci o ruti</a:t>
            </a:r>
            <a:endParaRPr lang="en-US" altLang="en-GB"/>
          </a:p>
          <a:p>
            <a:r>
              <a:rPr lang="sr-Latn-RS" altLang="en-US"/>
              <a:t>  --</a:t>
            </a:r>
            <a:r>
              <a:rPr lang="en-US" altLang="en-GB"/>
              <a:t> origin_port</a:t>
            </a:r>
            <a:endParaRPr lang="en-US" altLang="en-GB"/>
          </a:p>
          <a:p>
            <a:r>
              <a:rPr lang="sr-Latn-RS" altLang="en-US"/>
              <a:t>  -- </a:t>
            </a:r>
            <a:r>
              <a:rPr lang="en-US" altLang="en-GB"/>
              <a:t> destination_port</a:t>
            </a:r>
            <a:endParaRPr lang="en-US" altLang="en-GB"/>
          </a:p>
          <a:p>
            <a:r>
              <a:rPr lang="sr-Latn-RS" altLang="en-US"/>
              <a:t>  --</a:t>
            </a:r>
            <a:r>
              <a:rPr lang="en-US" altLang="en-GB"/>
              <a:t> distance_km</a:t>
            </a:r>
            <a:endParaRPr lang="en-US" altLang="en-GB"/>
          </a:p>
          <a:p>
            <a:r>
              <a:rPr lang="sr-Latn-RS" altLang="en-US"/>
              <a:t>  --</a:t>
            </a:r>
            <a:r>
              <a:rPr lang="en-US" altLang="en-GB"/>
              <a:t> num_stops</a:t>
            </a:r>
            <a:endParaRPr lang="en-US" altLang="en-GB"/>
          </a:p>
        </p:txBody>
      </p:sp>
      <p:sp>
        <p:nvSpPr>
          <p:cNvPr id="4" name="Text Box 3"/>
          <p:cNvSpPr txBox="1"/>
          <p:nvPr/>
        </p:nvSpPr>
        <p:spPr>
          <a:xfrm>
            <a:off x="3964940" y="565975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en-GB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GB"/>
              <a:t>- vremenski podaci</a:t>
            </a:r>
            <a:endParaRPr lang="en-US" altLang="en-GB"/>
          </a:p>
          <a:p>
            <a:r>
              <a:rPr lang="sr-Latn-RS" altLang="en-US"/>
              <a:t>  </a:t>
            </a:r>
            <a:r>
              <a:rPr lang="en-US" altLang="en-GB"/>
              <a:t>-- created_date</a:t>
            </a:r>
            <a:endParaRPr lang="en-US" altLang="en-GB"/>
          </a:p>
          <a:p>
            <a:r>
              <a:rPr lang="sr-Latn-RS" altLang="en-US"/>
              <a:t>  </a:t>
            </a:r>
            <a:r>
              <a:rPr lang="en-US" altLang="en-GB"/>
              <a:t>-- eta_date</a:t>
            </a:r>
            <a:endParaRPr lang="en-US" altLang="en-GB"/>
          </a:p>
          <a:p>
            <a:r>
              <a:rPr lang="sr-Latn-RS" altLang="en-US"/>
              <a:t>  -- </a:t>
            </a:r>
            <a:r>
              <a:rPr lang="en-US" altLang="en-GB"/>
              <a:t>transit_hours</a:t>
            </a:r>
            <a:endParaRPr lang="en-US" altLang="en-GB"/>
          </a:p>
          <a:p>
            <a:r>
              <a:rPr lang="sr-Latn-RS" altLang="en-US"/>
              <a:t>  -- </a:t>
            </a:r>
            <a:r>
              <a:rPr lang="en-US" altLang="en-GB"/>
              <a:t>delay_hours</a:t>
            </a:r>
            <a:endParaRPr lang="en-US" altLang="en-GB"/>
          </a:p>
          <a:p>
            <a:pPr marL="0" indent="0">
              <a:buNone/>
            </a:pPr>
            <a:endParaRPr lang="en-US" altLang="en-GB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sr-Latn-RS" altLang="en-US">
                <a:sym typeface="+mn-ea"/>
              </a:rPr>
              <a:t>- </a:t>
            </a:r>
            <a:r>
              <a:rPr lang="en-US" altLang="en-GB">
                <a:sym typeface="+mn-ea"/>
              </a:rPr>
              <a:t>finansijski podaci</a:t>
            </a:r>
            <a:endParaRPr lang="en-US" altLang="en-GB"/>
          </a:p>
          <a:p>
            <a:r>
              <a:rPr lang="sr-Latn-RS" altLang="en-US">
                <a:sym typeface="+mn-ea"/>
              </a:rPr>
              <a:t>  -- </a:t>
            </a:r>
            <a:r>
              <a:rPr lang="en-US" altLang="en-GB">
                <a:sym typeface="+mn-ea"/>
              </a:rPr>
              <a:t>currency</a:t>
            </a:r>
            <a:endParaRPr lang="en-US" altLang="en-GB"/>
          </a:p>
          <a:p>
            <a:r>
              <a:rPr lang="sr-Latn-RS" altLang="en-US">
                <a:sym typeface="+mn-ea"/>
              </a:rPr>
              <a:t>  -- </a:t>
            </a:r>
            <a:r>
              <a:rPr lang="en-US" altLang="en-GB">
                <a:sym typeface="+mn-ea"/>
              </a:rPr>
              <a:t>value_usd</a:t>
            </a:r>
            <a:endParaRPr lang="en-US" altLang="en-GB"/>
          </a:p>
          <a:p>
            <a:r>
              <a:rPr lang="sr-Latn-RS" altLang="en-US">
                <a:sym typeface="+mn-ea"/>
              </a:rPr>
              <a:t>  -- </a:t>
            </a:r>
            <a:r>
              <a:rPr lang="en-US" altLang="en-GB">
                <a:sym typeface="+mn-ea"/>
              </a:rPr>
              <a:t>freight_cost_usd</a:t>
            </a:r>
            <a:endParaRPr lang="en-US" altLang="en-GB"/>
          </a:p>
          <a:p>
            <a:r>
              <a:rPr lang="sr-Latn-RS" altLang="en-US">
                <a:sym typeface="+mn-ea"/>
              </a:rPr>
              <a:t>  -- </a:t>
            </a:r>
            <a:r>
              <a:rPr lang="en-US" altLang="en-GB">
                <a:sym typeface="+mn-ea"/>
              </a:rPr>
              <a:t>insurance_required</a:t>
            </a:r>
            <a:endParaRPr lang="en-US" altLang="en-GB"/>
          </a:p>
          <a:p>
            <a:pPr marL="0" indent="0">
              <a:buNone/>
            </a:pPr>
            <a:endParaRPr lang="en-GB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endParaRPr lang="en-US" altLang="en-US"/>
          </a:p>
          <a:p>
            <a:r>
              <a:rPr lang="sr-Latn-RS" altLang="en-US">
                <a:sym typeface="+mn-ea"/>
              </a:rPr>
              <a:t>- </a:t>
            </a:r>
            <a:r>
              <a:rPr lang="en-US" altLang="en-GB">
                <a:sym typeface="+mn-ea"/>
              </a:rPr>
              <a:t>fizi</a:t>
            </a:r>
            <a:r>
              <a:rPr lang="en-US" altLang="en-US">
                <a:sym typeface="+mn-ea"/>
              </a:rPr>
              <a:t>č</a:t>
            </a:r>
            <a:r>
              <a:rPr lang="en-US" altLang="en-GB">
                <a:sym typeface="+mn-ea"/>
              </a:rPr>
              <a:t>ki podaci</a:t>
            </a:r>
            <a:endParaRPr lang="en-US" altLang="en-GB"/>
          </a:p>
          <a:p>
            <a:r>
              <a:rPr lang="sr-Latn-RS" altLang="en-US">
                <a:sym typeface="+mn-ea"/>
              </a:rPr>
              <a:t>-- </a:t>
            </a:r>
            <a:r>
              <a:rPr lang="en-US" altLang="en-GB">
                <a:sym typeface="+mn-ea"/>
              </a:rPr>
              <a:t>weight_kg</a:t>
            </a:r>
            <a:endParaRPr lang="en-US" altLang="en-GB"/>
          </a:p>
          <a:p>
            <a:r>
              <a:rPr lang="en-US" altLang="en-GB">
                <a:sym typeface="+mn-ea"/>
              </a:rPr>
              <a:t>   </a:t>
            </a:r>
            <a:r>
              <a:rPr lang="sr-Latn-RS" altLang="en-US">
                <a:sym typeface="+mn-ea"/>
              </a:rPr>
              <a:t>-- </a:t>
            </a:r>
            <a:r>
              <a:rPr lang="en-US" altLang="en-GB">
                <a:sym typeface="+mn-ea"/>
              </a:rPr>
              <a:t>volume_m3</a:t>
            </a:r>
            <a:endParaRPr lang="en-US" altLang="en-GB"/>
          </a:p>
          <a:p>
            <a:r>
              <a:rPr lang="en-US" altLang="en-GB">
                <a:sym typeface="+mn-ea"/>
              </a:rPr>
              <a:t>   </a:t>
            </a:r>
            <a:r>
              <a:rPr lang="sr-Latn-RS" altLang="en-US">
                <a:sym typeface="+mn-ea"/>
              </a:rPr>
              <a:t>-- </a:t>
            </a:r>
            <a:r>
              <a:rPr lang="en-US" altLang="en-GB">
                <a:sym typeface="+mn-ea"/>
              </a:rPr>
              <a:t>num_containers</a:t>
            </a:r>
            <a:endParaRPr lang="en-US" altLang="en-US"/>
          </a:p>
          <a:p>
            <a:endParaRPr lang="en-US" altLang="en-GB"/>
          </a:p>
          <a:p>
            <a:endParaRPr lang="en-US" altLang="en-GB"/>
          </a:p>
          <a:p>
            <a:endParaRPr lang="en-GB" altLang="en-US"/>
          </a:p>
          <a:p>
            <a:endParaRPr lang="en-GB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sr-Latn-RS" altLang="en-US">
                <a:sym typeface="+mn-ea"/>
              </a:rPr>
              <a:t>- </a:t>
            </a:r>
            <a:r>
              <a:rPr lang="en-US" altLang="en-GB">
                <a:sym typeface="+mn-ea"/>
              </a:rPr>
              <a:t>informacije o riziku</a:t>
            </a:r>
            <a:endParaRPr lang="en-US" altLang="en-GB"/>
          </a:p>
          <a:p>
            <a:r>
              <a:rPr lang="en-US" altLang="en-GB">
                <a:sym typeface="+mn-ea"/>
              </a:rPr>
              <a:t>    </a:t>
            </a:r>
            <a:r>
              <a:rPr lang="sr-Latn-RS" altLang="en-US">
                <a:sym typeface="+mn-ea"/>
              </a:rPr>
              <a:t>-- </a:t>
            </a:r>
            <a:r>
              <a:rPr lang="en-US" altLang="en-GB">
                <a:sym typeface="+mn-ea"/>
              </a:rPr>
              <a:t>risk_score</a:t>
            </a:r>
            <a:endParaRPr lang="en-US" altLang="en-GB"/>
          </a:p>
          <a:p>
            <a:r>
              <a:rPr lang="en-US" altLang="en-GB">
                <a:sym typeface="+mn-ea"/>
              </a:rPr>
              <a:t>    </a:t>
            </a:r>
            <a:r>
              <a:rPr lang="sr-Latn-RS" altLang="en-US">
                <a:sym typeface="+mn-ea"/>
              </a:rPr>
              <a:t>-- </a:t>
            </a:r>
            <a:r>
              <a:rPr lang="en-US" altLang="en-GB">
                <a:sym typeface="+mn-ea"/>
              </a:rPr>
              <a:t>weather_severity</a:t>
            </a:r>
            <a:endParaRPr lang="en-US" altLang="en-GB"/>
          </a:p>
          <a:p>
            <a:r>
              <a:rPr lang="en-US" altLang="en-GB">
                <a:sym typeface="+mn-ea"/>
              </a:rPr>
              <a:t>    </a:t>
            </a:r>
            <a:r>
              <a:rPr lang="sr-Latn-RS" altLang="en-US">
                <a:sym typeface="+mn-ea"/>
              </a:rPr>
              <a:t>-- </a:t>
            </a:r>
            <a:r>
              <a:rPr lang="en-US" altLang="en-GB">
                <a:sym typeface="+mn-ea"/>
              </a:rPr>
              <a:t>port_congestion</a:t>
            </a:r>
            <a:endParaRPr lang="en-US" altLang="en-GB"/>
          </a:p>
          <a:p>
            <a:r>
              <a:rPr lang="en-US" altLang="en-GB">
                <a:sym typeface="+mn-ea"/>
              </a:rPr>
              <a:t>    </a:t>
            </a:r>
            <a:r>
              <a:rPr lang="sr-Latn-RS" altLang="en-US">
                <a:sym typeface="+mn-ea"/>
              </a:rPr>
              <a:t>-- </a:t>
            </a:r>
            <a:r>
              <a:rPr lang="en-US" altLang="en-GB">
                <a:sym typeface="+mn-ea"/>
              </a:rPr>
              <a:t>temperature_c</a:t>
            </a:r>
            <a:endParaRPr lang="en-US" altLang="en-GB"/>
          </a:p>
          <a:p>
            <a:endParaRPr lang="en-GB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1515" y="5073015"/>
            <a:ext cx="10972800" cy="582613"/>
          </a:xfrm>
        </p:spPr>
        <p:txBody>
          <a:bodyPr/>
          <a:p>
            <a:r>
              <a:rPr lang="sr-Latn-RS" altLang="en-GB"/>
              <a:t>Hvala na pažnji!</a:t>
            </a:r>
            <a:endParaRPr lang="sr-Latn-RS" altLang="en-GB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674*327"/>
  <p:tag name="TABLE_ENDDRAG_RECT" val="66*153*674*327"/>
</p:tagLst>
</file>

<file path=ppt/tags/tag2.xml><?xml version="1.0" encoding="utf-8"?>
<p:tagLst xmlns:p="http://schemas.openxmlformats.org/presentationml/2006/main">
  <p:tag name="TABLE_ENDDRAG_ORIGIN_RECT" val="622*301"/>
  <p:tag name="TABLE_ENDDRAG_RECT" val="66*153*622*301"/>
</p:tagLst>
</file>

<file path=ppt/tags/tag3.xml><?xml version="1.0" encoding="utf-8"?>
<p:tagLst xmlns:p="http://schemas.openxmlformats.org/presentationml/2006/main">
  <p:tag name="TABLE_ENDDRAG_ORIGIN_RECT" val="622*237"/>
  <p:tag name="TABLE_ENDDRAG_RECT" val="66*146*622*237"/>
</p:tagLst>
</file>

<file path=ppt/tags/tag4.xml><?xml version="1.0" encoding="utf-8"?>
<p:tagLst xmlns:p="http://schemas.openxmlformats.org/presentationml/2006/main">
  <p:tag name="TABLE_ENDDRAG_ORIGIN_RECT" val="622*237"/>
  <p:tag name="TABLE_ENDDRAG_RECT" val="66*146*622*237"/>
</p:tagLst>
</file>

<file path=ppt/theme/theme1.xml><?xml version="1.0" encoding="utf-8"?>
<a:theme xmlns:a="http://schemas.openxmlformats.org/drawingml/2006/main" name="Orange Waves">
  <a:themeElements>
    <a:clrScheme name="Orang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C73109"/>
      </a:accent1>
      <a:accent2>
        <a:srgbClr val="FF5050"/>
      </a:accent2>
      <a:accent3>
        <a:srgbClr val="FFFFFF"/>
      </a:accent3>
      <a:accent4>
        <a:srgbClr val="000000"/>
      </a:accent4>
      <a:accent5>
        <a:srgbClr val="E0ADAA"/>
      </a:accent5>
      <a:accent6>
        <a:srgbClr val="E74848"/>
      </a:accent6>
      <a:hlink>
        <a:srgbClr val="4D4D4D"/>
      </a:hlink>
      <a:folHlink>
        <a:srgbClr val="777777"/>
      </a:folHlink>
    </a:clrScheme>
    <a:fontScheme name="Orang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Orang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C73109"/>
        </a:accent1>
        <a:accent2>
          <a:srgbClr val="FF5050"/>
        </a:accent2>
        <a:accent3>
          <a:srgbClr val="FFFFFF"/>
        </a:accent3>
        <a:accent4>
          <a:srgbClr val="000000"/>
        </a:accent4>
        <a:accent5>
          <a:srgbClr val="E0ADAA"/>
        </a:accent5>
        <a:accent6>
          <a:srgbClr val="E74848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3149</Words>
  <Application>WPS Presentation</Application>
  <PresentationFormat>Widescreen</PresentationFormat>
  <Paragraphs>269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7" baseType="lpstr">
      <vt:lpstr>Arial</vt:lpstr>
      <vt:lpstr>SimSun</vt:lpstr>
      <vt:lpstr>Wingdings</vt:lpstr>
      <vt:lpstr>Microsoft YaHei</vt:lpstr>
      <vt:lpstr>Arial Unicode MS</vt:lpstr>
      <vt:lpstr>Calibri</vt:lpstr>
      <vt:lpstr>Orange Waves</vt:lpstr>
      <vt:lpstr>Analiza pametne logistike globalnog uvoza/izvoza i povezanih ruta</vt:lpstr>
      <vt:lpstr>Opis</vt:lpstr>
      <vt:lpstr>PowerPoint 演示文稿</vt:lpstr>
      <vt:lpstr>Semantika kolona shipments_master.csv</vt:lpstr>
      <vt:lpstr>Semantika kolona shipments_master.csv</vt:lpstr>
      <vt:lpstr>Semantika kolona route_events.csv</vt:lpstr>
      <vt:lpstr>Semantika kolona route_events.csv</vt:lpstr>
      <vt:lpstr>Primer prostiranja</vt:lpstr>
      <vt:lpstr>Predlog logičke šeme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Hvala na pažnji!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HP</cp:lastModifiedBy>
  <cp:revision>41</cp:revision>
  <dcterms:created xsi:type="dcterms:W3CDTF">2025-07-23T00:59:00Z</dcterms:created>
  <dcterms:modified xsi:type="dcterms:W3CDTF">2026-06-02T23:30:31Z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76636C08500A4EB7BB91DE41D1272D49_11</vt:lpwstr>
  </property>
  <property fmtid="{D5CDD505-2E9C-101B-9397-08002B2CF9AE}" pid="3" name="KSOProductBuildVer">
    <vt:lpwstr>2057-12.2.0.23202</vt:lpwstr>
  </property>
</Properties>
</file>