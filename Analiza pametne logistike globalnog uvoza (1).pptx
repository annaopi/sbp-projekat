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 dirty="0"/>
              <a:t>Analiza pametne logistike globalnog uvoza/izvoza i povezanih ruta</a:t>
            </a:r>
            <a:endParaRPr lang="en-US" alt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/>
              <a:t>Ana Opančina IN40/2022</a:t>
            </a:r>
            <a:endParaRPr lang="sr-Latn-RS"/>
          </a:p>
          <a:p>
            <a:r>
              <a:rPr lang="sr-Latn-RS"/>
              <a:t>Filip Popović IN30/2022</a:t>
            </a:r>
            <a:endParaRPr lang="sr-Latn-R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sr-Latn-RS" altLang="en-GB"/>
              <a:t>Opis</a:t>
            </a:r>
            <a:endParaRPr lang="sr-Latn-R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https://www.kaggle.com/datasets/tharishreddy22/smart-shipment-logistics-and-route-event-monitoring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Skup podataka odnosi se na analizu pametne logistike globalnog uvoza i izvoza robe, sa posebnim fokusom na pra</a:t>
            </a:r>
            <a:r>
              <a:rPr lang="" altLang="en-US"/>
              <a:t>ć</a:t>
            </a:r>
            <a:r>
              <a:rPr lang="en-US" altLang="en-GB"/>
              <a:t>enje po</a:t>
            </a:r>
            <a:r>
              <a:rPr lang="" altLang="en-US"/>
              <a:t>š</a:t>
            </a:r>
            <a:r>
              <a:rPr lang="en-US" altLang="en-GB"/>
              <a:t>iljaka, transportnih ruta, logisti</a:t>
            </a:r>
            <a:r>
              <a:rPr lang="" altLang="en-US"/>
              <a:t>č</a:t>
            </a:r>
            <a:r>
              <a:rPr lang="en-US" altLang="en-GB"/>
              <a:t>kih doga</a:t>
            </a:r>
            <a:r>
              <a:rPr lang="" altLang="en-US"/>
              <a:t>đ</a:t>
            </a:r>
            <a:r>
              <a:rPr lang="en-US" altLang="en-GB"/>
              <a:t>aja i procenu rizika tokom transporta. 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Skup podataka se sastoji od dve CSV datoteke povezane atributom shipment_id.</a:t>
            </a:r>
            <a:endParaRPr lang="en-US" altLang="en-GB"/>
          </a:p>
          <a:p>
            <a:r>
              <a:rPr lang="sr-Latn-RS" altLang="en-US"/>
              <a:t>Prva d</a:t>
            </a:r>
            <a:r>
              <a:rPr lang="en-US" altLang="en-GB"/>
              <a:t>atoteka route_events sad</a:t>
            </a:r>
            <a:r>
              <a:rPr lang="sr-Latn-RS" altLang="en-GB"/>
              <a:t>rži 5 000 000 zapisa.</a:t>
            </a:r>
            <a:endParaRPr lang="sr-Latn-RS" altLang="en-GB"/>
          </a:p>
          <a:p>
            <a:r>
              <a:rPr lang="sr-Latn-RS" altLang="en-GB"/>
              <a:t>Druga datoteka shipments_master sadrži 1550 zapisa.</a:t>
            </a:r>
            <a:endParaRPr lang="sr-Latn-RS" altLang="en-GB"/>
          </a:p>
          <a:p>
            <a:endParaRPr lang="sr-Latn-RS" altLang="en-GB"/>
          </a:p>
          <a:p>
            <a:endParaRPr lang="sr-Latn-R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Semantika kolona</a:t>
            </a:r>
            <a:r>
              <a:rPr lang="sr-Latn-RS" altLang="en-US"/>
              <a:t> </a:t>
            </a:r>
            <a:r>
              <a:rPr lang="en-US" altLang="en-GB"/>
              <a:t>shipments_master.csv</a:t>
            </a:r>
            <a:endParaRPr lang="en-US" altLang="en-GB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38200" y="1945640"/>
          <a:ext cx="8564880" cy="4434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07970"/>
                <a:gridCol w="5756910"/>
              </a:tblGrid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shipment_id</a:t>
                      </a:r>
                      <a:endParaRPr lang="en-US" altLang="en-GB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jedinstveni identifikator po</a:t>
                      </a:r>
                      <a:r>
                        <a:rPr lang="" altLang="en-US" b="0"/>
                        <a:t>š</a:t>
                      </a:r>
                      <a:r>
                        <a:rPr lang="en-US" altLang="en-GB" b="0"/>
                        <a:t>iljke </a:t>
                      </a:r>
                      <a:endParaRPr lang="en-US" altLang="en-GB" b="0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carrier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sr-Latn-RS" altLang="en-GB"/>
                        <a:t>prevoznik</a:t>
                      </a:r>
                      <a:endParaRPr lang="sr-Latn-RS" altLang="en-GB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origin_port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polazna luka</a:t>
                      </a:r>
                      <a:endParaRPr lang="en-US" altLang="en-GB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destination_port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odredi</a:t>
                      </a:r>
                      <a:r>
                        <a:rPr lang="" altLang="en-US"/>
                        <a:t>š</a:t>
                      </a:r>
                      <a:r>
                        <a:rPr lang="en-US" altLang="en-GB"/>
                        <a:t>na luka</a:t>
                      </a:r>
                      <a:endParaRPr lang="en-US" altLang="en-GB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transport_mode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na</a:t>
                      </a:r>
                      <a:r>
                        <a:rPr lang="" altLang="en-US"/>
                        <a:t>č</a:t>
                      </a:r>
                      <a:r>
                        <a:rPr lang="en-US" altLang="en-GB"/>
                        <a:t>in transporta (pomorski, drumski, </a:t>
                      </a:r>
                      <a:r>
                        <a:rPr lang="" altLang="en-US"/>
                        <a:t>ž</a:t>
                      </a:r>
                      <a:r>
                        <a:rPr lang="en-US" altLang="en-GB"/>
                        <a:t>elezni</a:t>
                      </a:r>
                      <a:r>
                        <a:rPr lang="" altLang="en-US"/>
                        <a:t>č</a:t>
                      </a:r>
                      <a:r>
                        <a:rPr lang="en-US" altLang="en-GB"/>
                        <a:t>ki i sli</a:t>
                      </a:r>
                      <a:r>
                        <a:rPr lang="" altLang="en-US"/>
                        <a:t>č</a:t>
                      </a:r>
                      <a:r>
                        <a:rPr lang="en-US" altLang="en-GB"/>
                        <a:t>no)</a:t>
                      </a:r>
                      <a:endParaRPr lang="en-US" altLang="en-GB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status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sr-Latn-RS" altLang="en-GB"/>
                        <a:t>trenutni status pošiljke</a:t>
                      </a:r>
                      <a:endParaRPr lang="sr-Latn-RS" altLang="en-GB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goods_category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sr-Latn-RS" altLang="en-GB"/>
                        <a:t>kategorija robe</a:t>
                      </a:r>
                      <a:endParaRPr lang="sr-Latn-RS" altLang="en-GB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created_date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sr-Latn-RS" altLang="en-GB"/>
                        <a:t>datum kreiranja pošiljke</a:t>
                      </a:r>
                      <a:endParaRPr lang="sr-Latn-RS" altLang="en-GB"/>
                    </a:p>
                  </a:txBody>
                  <a:tcPr/>
                </a:tc>
              </a:tr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eta_date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</a:t>
                      </a:r>
                      <a:r>
                        <a:rPr lang="" altLang="en-US"/>
                        <a:t>č</a:t>
                      </a:r>
                      <a:r>
                        <a:rPr lang="en-US" altLang="en-GB"/>
                        <a:t>ekivani datum isporuke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sr-Latn-RS" altLang="en-GB"/>
              <a:t>Semantika kolona </a:t>
            </a:r>
            <a:r>
              <a:rPr lang="en-US" altLang="en-GB"/>
              <a:t>shipments_master.csv</a:t>
            </a:r>
            <a:endParaRPr lang="en-US" altLang="en-GB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38200" y="1946910"/>
          <a:ext cx="7908290" cy="412051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79090"/>
                <a:gridCol w="5029200"/>
              </a:tblGrid>
              <a:tr h="497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distance_km</a:t>
                      </a:r>
                      <a:endParaRPr lang="en-US" altLang="en-GB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ukupna transportna udaljenost</a:t>
                      </a:r>
                      <a:endParaRPr lang="en-US" altLang="en-GB" b="0"/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weight_kg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sr-Latn-RS" altLang="en-GB"/>
                        <a:t>težina robe</a:t>
                      </a:r>
                      <a:endParaRPr lang="sr-Latn-RS" altLang="en-GB"/>
                    </a:p>
                  </a:txBody>
                  <a:tcPr/>
                </a:tc>
              </a:tr>
              <a:tr h="4965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value_usd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vrednost robe u ameri</a:t>
                      </a:r>
                      <a:r>
                        <a:rPr lang="" altLang="en-US"/>
                        <a:t>č</a:t>
                      </a:r>
                      <a:r>
                        <a:rPr lang="en-US" altLang="en-GB"/>
                        <a:t>kim dolarima</a:t>
                      </a:r>
                      <a:endParaRPr lang="en-US" altLang="en-GB"/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freight_cost_usd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tro</a:t>
                      </a:r>
                      <a:r>
                        <a:rPr lang="" altLang="en-US"/>
                        <a:t>š</a:t>
                      </a:r>
                      <a:r>
                        <a:rPr lang="en-US" altLang="en-GB"/>
                        <a:t>kovi transporta</a:t>
                      </a:r>
                      <a:endParaRPr lang="en-US" altLang="en-GB"/>
                    </a:p>
                  </a:txBody>
                  <a:tcPr/>
                </a:tc>
              </a:tr>
              <a:tr h="497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delay_hours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ukupno ka</a:t>
                      </a:r>
                      <a:r>
                        <a:rPr lang="" altLang="en-US"/>
                        <a:t>š</a:t>
                      </a:r>
                      <a:r>
                        <a:rPr lang="en-US" altLang="en-GB"/>
                        <a:t>njenje</a:t>
                      </a:r>
                      <a:endParaRPr lang="en-US" altLang="en-GB"/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risk_score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sr-Latn-RS" altLang="en-GB"/>
                        <a:t>procena rizika</a:t>
                      </a:r>
                      <a:endParaRPr lang="sr-Latn-RS" altLang="en-GB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weather_severity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intenzitet nepovoljnih vremenskih uslova</a:t>
                      </a:r>
                      <a:endParaRPr lang="en-US" altLang="en-GB"/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port_congestion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sr-Latn-RS" altLang="en-GB"/>
                        <a:t>nivo zagušenja luke</a:t>
                      </a:r>
                      <a:endParaRPr lang="sr-Latn-R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sr-Latn-RS" altLang="en-GB"/>
              <a:t>Semantika kolona </a:t>
            </a:r>
            <a:r>
              <a:rPr lang="en-US" altLang="en-GB"/>
              <a:t>route_events.csv</a:t>
            </a:r>
            <a:endParaRPr lang="en-US" altLang="en-GB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38200" y="1856105"/>
          <a:ext cx="7907655" cy="339471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84400"/>
                <a:gridCol w="5723255"/>
              </a:tblGrid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event_id</a:t>
                      </a:r>
                      <a:endParaRPr lang="en-GB" altLang="en-US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jedinstveni identifikator doga</a:t>
                      </a:r>
                      <a:r>
                        <a:rPr lang="" altLang="en-US" b="0"/>
                        <a:t>đ</a:t>
                      </a:r>
                      <a:r>
                        <a:rPr lang="en-US" altLang="en-GB" b="0"/>
                        <a:t>aja</a:t>
                      </a:r>
                      <a:endParaRPr lang="en-US" altLang="en-GB" b="0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shipment_id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identifikator po</a:t>
                      </a:r>
                      <a:r>
                        <a:rPr lang="" altLang="en-US"/>
                        <a:t>š</a:t>
                      </a:r>
                      <a:r>
                        <a:rPr lang="en-US" altLang="en-GB"/>
                        <a:t>iljke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event_type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tip doga</a:t>
                      </a:r>
                      <a:r>
                        <a:rPr lang="" altLang="en-US"/>
                        <a:t>đ</a:t>
                      </a:r>
                      <a:r>
                        <a:rPr lang="en-US" altLang="en-GB"/>
                        <a:t>aja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event_timestamp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vreme nastanka doga</a:t>
                      </a:r>
                      <a:r>
                        <a:rPr lang="" altLang="en-US"/>
                        <a:t>đ</a:t>
                      </a:r>
                      <a:r>
                        <a:rPr lang="en-US" altLang="en-GB"/>
                        <a:t>aja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location_name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lokacija doga</a:t>
                      </a:r>
                      <a:r>
                        <a:rPr lang="" altLang="en-US"/>
                        <a:t>đ</a:t>
                      </a:r>
                      <a:r>
                        <a:rPr lang="en-US" altLang="en-GB"/>
                        <a:t>aja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latitude, longitude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geografske koordinate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speed_knots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brzina transportnog sredstva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heading_deg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smer kretanja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temperature_c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temperatura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sr-Latn-RS" altLang="en-GB">
                <a:sym typeface="+mn-ea"/>
              </a:rPr>
              <a:t>Semantika kolona </a:t>
            </a:r>
            <a:r>
              <a:rPr lang="en-US" altLang="en-GB">
                <a:sym typeface="+mn-ea"/>
              </a:rPr>
              <a:t>route_events.csv</a:t>
            </a:r>
            <a:endParaRPr lang="en-GB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41490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05125"/>
                <a:gridCol w="7610475"/>
              </a:tblGrid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humidity_pct</a:t>
                      </a:r>
                      <a:endParaRPr lang="en-US" altLang="en-GB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0"/>
                        <a:t>vla</a:t>
                      </a:r>
                      <a:r>
                        <a:rPr lang="" altLang="en-US" b="0"/>
                        <a:t>ž</a:t>
                      </a:r>
                      <a:r>
                        <a:rPr lang="en-US" altLang="en-GB" b="0"/>
                        <a:t>nost vazduha</a:t>
                      </a:r>
                      <a:endParaRPr lang="en-US" altLang="en-GB" b="0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shock_g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nivo vibracija ili udara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delay_added_hours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dodatno ka</a:t>
                      </a:r>
                      <a:r>
                        <a:rPr lang="" altLang="en-US"/>
                        <a:t>š</a:t>
                      </a:r>
                      <a:r>
                        <a:rPr lang="en-US" altLang="en-GB"/>
                        <a:t>njenje izazvano doga</a:t>
                      </a:r>
                      <a:r>
                        <a:rPr lang="" altLang="en-US"/>
                        <a:t>đ</a:t>
                      </a:r>
                      <a:r>
                        <a:rPr lang="en-US" altLang="en-GB"/>
                        <a:t>ajem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risk_score_delta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promena nivoa rizika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port_wait_hours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vreme </a:t>
                      </a:r>
                      <a:r>
                        <a:rPr lang="" altLang="en-US"/>
                        <a:t>č</a:t>
                      </a:r>
                      <a:r>
                        <a:rPr lang="en-US" altLang="en-GB"/>
                        <a:t>ekanja u luci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fuel_consumed_lt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potro</a:t>
                      </a:r>
                      <a:r>
                        <a:rPr lang="" altLang="en-US"/>
                        <a:t>š</a:t>
                      </a:r>
                      <a:r>
                        <a:rPr lang="en-US" altLang="en-GB"/>
                        <a:t>nja goriva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co2_kg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emisija ugljen-dioksida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sensor_type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tip senzora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signal_quality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kvalitet signala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anomaly_flag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indikator anomalije</a:t>
                      </a:r>
                      <a:endParaRPr lang="en-US" altLang="en-GB"/>
                    </a:p>
                  </a:txBody>
                  <a:tcPr/>
                </a:tc>
              </a:tr>
              <a:tr h="377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alert_sent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indikator poslatog upozorenja 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Predlog logi</a:t>
            </a:r>
            <a:r>
              <a:rPr lang="sr-Latn-RS" altLang="en-GB"/>
              <a:t>čke šeme</a:t>
            </a:r>
            <a:endParaRPr lang="sr-Latn-R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4*349"/>
  <p:tag name="TABLE_ENDDRAG_RECT" val="66*114*674*349"/>
</p:tagLst>
</file>

<file path=ppt/tags/tag2.xml><?xml version="1.0" encoding="utf-8"?>
<p:tagLst xmlns:p="http://schemas.openxmlformats.org/presentationml/2006/main">
  <p:tag name="TABLE_ENDDRAG_ORIGIN_RECT" val="622*322"/>
  <p:tag name="TABLE_ENDDRAG_RECT" val="66*153*622*322"/>
</p:tagLst>
</file>

<file path=ppt/tags/tag3.xml><?xml version="1.0" encoding="utf-8"?>
<p:tagLst xmlns:p="http://schemas.openxmlformats.org/presentationml/2006/main">
  <p:tag name="TABLE_ENDDRAG_ORIGIN_RECT" val="622*237"/>
  <p:tag name="TABLE_ENDDRAG_RECT" val="66*146*622*237"/>
</p:tagLst>
</file>

<file path=ppt/tags/tag4.xml><?xml version="1.0" encoding="utf-8"?>
<p:tagLst xmlns:p="http://schemas.openxmlformats.org/presentationml/2006/main">
  <p:tag name="TABLE_ENDDRAG_ORIGIN_RECT" val="622*237"/>
  <p:tag name="TABLE_ENDDRAG_RECT" val="66*146*622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2005</Words>
  <Application>WPS Presentation</Application>
  <PresentationFormat>Widescreen</PresentationFormat>
  <Paragraphs>176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Analiza pametne logistike globalnog uvoza/izvoza i povezanih ruta</vt:lpstr>
      <vt:lpstr>Opis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HP</cp:lastModifiedBy>
  <cp:revision>23</cp:revision>
  <dcterms:created xsi:type="dcterms:W3CDTF">2025-07-23T00:59:00Z</dcterms:created>
  <dcterms:modified xsi:type="dcterms:W3CDTF">2026-06-01T22:34:57Z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76636C08500A4EB7BB91DE41D1272D49_11</vt:lpwstr>
  </property>
  <property fmtid="{D5CDD505-2E9C-101B-9397-08002B2CF9AE}" pid="3" name="KSOProductBuildVer">
    <vt:lpwstr>2057-12.2.0.23202</vt:lpwstr>
  </property>
</Properties>
</file>