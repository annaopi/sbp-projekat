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58" r:id="rId6"/>
    <p:sldId id="260" r:id="rId7"/>
    <p:sldId id="261" r:id="rId8"/>
    <p:sldId id="262" r:id="rId9"/>
    <p:sldId id="264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en-GB" dirty="0"/>
              <a:t>Analiza pametne logistike globalnog uvoza/izvoza i povezanih ruta</a:t>
            </a:r>
            <a:endParaRPr lang="en-US" alt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r-Latn-RS"/>
              <a:t>Ana Opančina IN40/2022</a:t>
            </a:r>
            <a:endParaRPr lang="sr-Latn-RS"/>
          </a:p>
          <a:p>
            <a:r>
              <a:rPr lang="sr-Latn-RS"/>
              <a:t>Filip Popović IN30/2022</a:t>
            </a:r>
            <a:endParaRPr lang="sr-Latn-R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Opis</a:t>
            </a:r>
            <a:endParaRPr lang="sr-Latn-RS" alt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/>
              <a:t>https://www.kaggle.com/datasets/tharishreddy22/smart-shipment-logistics-and-route-event-monitoring</a:t>
            </a:r>
            <a:endParaRPr lang="en-US" altLang="en-GB"/>
          </a:p>
          <a:p>
            <a:endParaRPr lang="en-US" altLang="en-GB"/>
          </a:p>
          <a:p>
            <a:r>
              <a:rPr lang="en-US" altLang="en-GB"/>
              <a:t>Skup podataka odnosi se na analizu pametne logistike globalnog uvoza i izvoza robe, sa posebnim fokusom na pra</a:t>
            </a:r>
            <a:r>
              <a:rPr lang="" altLang="en-US"/>
              <a:t>ć</a:t>
            </a:r>
            <a:r>
              <a:rPr lang="en-US" altLang="en-GB"/>
              <a:t>enje po</a:t>
            </a:r>
            <a:r>
              <a:rPr lang="" altLang="en-US"/>
              <a:t>š</a:t>
            </a:r>
            <a:r>
              <a:rPr lang="en-US" altLang="en-GB"/>
              <a:t>iljaka, transportnih ruta, logisti</a:t>
            </a:r>
            <a:r>
              <a:rPr lang="" altLang="en-US"/>
              <a:t>č</a:t>
            </a:r>
            <a:r>
              <a:rPr lang="en-US" altLang="en-GB"/>
              <a:t>kih doga</a:t>
            </a:r>
            <a:r>
              <a:rPr lang="" altLang="en-US"/>
              <a:t>đ</a:t>
            </a:r>
            <a:r>
              <a:rPr lang="en-US" altLang="en-GB"/>
              <a:t>aja i procenu rizika tokom transporta. </a:t>
            </a:r>
            <a:endParaRPr lang="en-US" altLang="en-GB"/>
          </a:p>
          <a:p>
            <a:endParaRPr lang="en-US" alt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/>
              <a:t>Skup podataka se sastoji od dve CSV datoteke povezane atributom shipment_id.</a:t>
            </a:r>
            <a:endParaRPr lang="en-US" altLang="en-GB"/>
          </a:p>
          <a:p>
            <a:r>
              <a:rPr lang="sr-Latn-RS" altLang="en-US"/>
              <a:t>Obe d</a:t>
            </a:r>
            <a:r>
              <a:rPr lang="en-US" altLang="en-GB"/>
              <a:t>atotek</a:t>
            </a:r>
            <a:r>
              <a:rPr lang="sr-Latn-RS" altLang="en-US"/>
              <a:t>e,</a:t>
            </a:r>
            <a:r>
              <a:rPr lang="en-US" altLang="en-GB"/>
              <a:t> route_events</a:t>
            </a:r>
            <a:r>
              <a:rPr lang="sr-Latn-RS" altLang="en-US"/>
              <a:t> i </a:t>
            </a:r>
            <a:r>
              <a:rPr lang="en-US" altLang="en-GB"/>
              <a:t> </a:t>
            </a:r>
            <a:r>
              <a:rPr lang="sr-Latn-RS" altLang="en-GB">
                <a:sym typeface="+mn-ea"/>
              </a:rPr>
              <a:t>shipments_master, </a:t>
            </a:r>
            <a:r>
              <a:rPr lang="en-US" altLang="en-GB"/>
              <a:t>sad</a:t>
            </a:r>
            <a:r>
              <a:rPr lang="sr-Latn-RS" altLang="en-GB"/>
              <a:t>rže 5 000 000 zapisa.</a:t>
            </a:r>
            <a:endParaRPr lang="sr-Latn-RS" altLang="en-GB"/>
          </a:p>
          <a:p>
            <a:pPr marL="0" indent="0">
              <a:buNone/>
            </a:pPr>
            <a:endParaRPr lang="sr-Latn-RS" altLang="en-GB"/>
          </a:p>
          <a:p>
            <a:endParaRPr lang="sr-Latn-RS" alt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/>
              <a:t>Semantika kolona</a:t>
            </a:r>
            <a:r>
              <a:rPr lang="sr-Latn-RS" altLang="en-US"/>
              <a:t> </a:t>
            </a:r>
            <a:r>
              <a:rPr lang="en-US" altLang="en-GB"/>
              <a:t>shipments_master.csv</a:t>
            </a:r>
            <a:endParaRPr lang="en-US" altLang="en-GB"/>
          </a:p>
        </p:txBody>
      </p:sp>
      <p:graphicFrame>
        <p:nvGraphicFramePr>
          <p:cNvPr id="6" name="Content Placeholder 5"/>
          <p:cNvGraphicFramePr/>
          <p:nvPr>
            <p:ph idx="1"/>
            <p:custDataLst>
              <p:tags r:id="rId1"/>
            </p:custDataLst>
          </p:nvPr>
        </p:nvGraphicFramePr>
        <p:xfrm>
          <a:off x="838200" y="1945640"/>
          <a:ext cx="8564880" cy="416052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807970"/>
                <a:gridCol w="5756910"/>
              </a:tblGrid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shipment_id</a:t>
                      </a:r>
                      <a:endParaRPr lang="en-US" altLang="en-GB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jedinstveni identifikator po</a:t>
                      </a:r>
                      <a:r>
                        <a:rPr lang="" altLang="en-US" b="0"/>
                        <a:t>š</a:t>
                      </a:r>
                      <a:r>
                        <a:rPr lang="en-US" altLang="en-GB" b="0"/>
                        <a:t>iljke </a:t>
                      </a:r>
                      <a:endParaRPr lang="en-US" altLang="en-GB" b="0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carrier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prevoznik</a:t>
                      </a:r>
                      <a:endParaRPr lang="sr-Latn-R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origin_port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polazna luka</a:t>
                      </a:r>
                      <a:endParaRPr lang="en-U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destination_port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odredi</a:t>
                      </a:r>
                      <a:r>
                        <a:rPr lang="" altLang="en-US"/>
                        <a:t>š</a:t>
                      </a:r>
                      <a:r>
                        <a:rPr lang="en-US" altLang="en-GB"/>
                        <a:t>na luka</a:t>
                      </a:r>
                      <a:endParaRPr lang="en-U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transport_mode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na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in transporta (pomorski, drumski, </a:t>
                      </a:r>
                      <a:r>
                        <a:rPr lang="" altLang="en-US"/>
                        <a:t>ž</a:t>
                      </a:r>
                      <a:r>
                        <a:rPr lang="en-US" altLang="en-GB"/>
                        <a:t>elezni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ki i sli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no)</a:t>
                      </a:r>
                      <a:endParaRPr lang="en-U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status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trenutni status pošiljke</a:t>
                      </a:r>
                      <a:endParaRPr lang="sr-Latn-R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goods_category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kategorija robe</a:t>
                      </a:r>
                      <a:endParaRPr lang="sr-Latn-R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created_date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datum kreiranja pošiljke</a:t>
                      </a:r>
                      <a:endParaRPr lang="sr-Latn-RS" altLang="en-GB"/>
                    </a:p>
                  </a:txBody>
                  <a:tcPr/>
                </a:tc>
              </a:tr>
              <a:tr h="4622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eta_date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o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ekivani datum isporuke</a:t>
                      </a:r>
                      <a:endParaRPr lang="en-US" altLang="en-GB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Semantika kolona </a:t>
            </a:r>
            <a:r>
              <a:rPr lang="en-US" altLang="en-GB"/>
              <a:t>shipments_master.csv</a:t>
            </a:r>
            <a:endParaRPr lang="en-US" altLang="en-GB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1"/>
            </p:custDataLst>
          </p:nvPr>
        </p:nvGraphicFramePr>
        <p:xfrm>
          <a:off x="838200" y="1946910"/>
          <a:ext cx="7908290" cy="38252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879090"/>
                <a:gridCol w="5029200"/>
              </a:tblGrid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distance_km</a:t>
                      </a:r>
                      <a:endParaRPr lang="en-US" altLang="en-GB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ukupna transportna udaljenost</a:t>
                      </a:r>
                      <a:endParaRPr lang="en-US" altLang="en-GB" b="0"/>
                    </a:p>
                  </a:txBody>
                  <a:tcPr/>
                </a:tc>
              </a:tr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weight_kg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težina robe</a:t>
                      </a:r>
                      <a:endParaRPr lang="sr-Latn-RS" altLang="en-GB"/>
                    </a:p>
                  </a:txBody>
                  <a:tcPr/>
                </a:tc>
              </a:tr>
              <a:tr h="46101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value_usd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vrednost robe u ameri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kim dolarima</a:t>
                      </a:r>
                      <a:endParaRPr lang="en-US" altLang="en-GB"/>
                    </a:p>
                  </a:txBody>
                  <a:tcPr/>
                </a:tc>
              </a:tr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freight_cost_usd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tro</a:t>
                      </a:r>
                      <a:r>
                        <a:rPr lang="" altLang="en-US"/>
                        <a:t>š</a:t>
                      </a:r>
                      <a:r>
                        <a:rPr lang="en-US" altLang="en-GB"/>
                        <a:t>kovi transporta</a:t>
                      </a:r>
                      <a:endParaRPr lang="en-US" altLang="en-GB"/>
                    </a:p>
                  </a:txBody>
                  <a:tcPr/>
                </a:tc>
              </a:tr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delay_hours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ukupno ka</a:t>
                      </a:r>
                      <a:r>
                        <a:rPr lang="" altLang="en-US"/>
                        <a:t>š</a:t>
                      </a:r>
                      <a:r>
                        <a:rPr lang="en-US" altLang="en-GB"/>
                        <a:t>njenje</a:t>
                      </a:r>
                      <a:endParaRPr lang="en-US" altLang="en-GB"/>
                    </a:p>
                  </a:txBody>
                  <a:tcPr/>
                </a:tc>
              </a:tr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risk_score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procena rizika</a:t>
                      </a:r>
                      <a:endParaRPr lang="sr-Latn-RS" altLang="en-GB"/>
                    </a:p>
                  </a:txBody>
                  <a:tcPr/>
                </a:tc>
              </a:tr>
              <a:tr h="5943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weather_severity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intenzitet nepovoljnih vremenskih uslova</a:t>
                      </a:r>
                      <a:endParaRPr lang="en-US" altLang="en-GB"/>
                    </a:p>
                  </a:txBody>
                  <a:tcPr/>
                </a:tc>
              </a:tr>
              <a:tr h="46164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port_congestion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nivo zagušenja luke</a:t>
                      </a:r>
                      <a:endParaRPr lang="sr-Latn-RS" altLang="en-GB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Semantika kolona </a:t>
            </a:r>
            <a:r>
              <a:rPr lang="en-US" altLang="en-GB"/>
              <a:t>route_events.csv</a:t>
            </a:r>
            <a:endParaRPr lang="en-US" altLang="en-GB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1"/>
            </p:custDataLst>
          </p:nvPr>
        </p:nvGraphicFramePr>
        <p:xfrm>
          <a:off x="838200" y="1856105"/>
          <a:ext cx="7907655" cy="339471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184400"/>
                <a:gridCol w="5723255"/>
              </a:tblGrid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event_id</a:t>
                      </a:r>
                      <a:endParaRPr lang="en-GB" altLang="en-US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jedinstveni identifikator doga</a:t>
                      </a:r>
                      <a:r>
                        <a:rPr lang="" altLang="en-US" b="0"/>
                        <a:t>đ</a:t>
                      </a:r>
                      <a:r>
                        <a:rPr lang="en-US" altLang="en-GB" b="0"/>
                        <a:t>aja</a:t>
                      </a:r>
                      <a:endParaRPr lang="en-US" altLang="en-GB" b="0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shipment_id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identifikator po</a:t>
                      </a:r>
                      <a:r>
                        <a:rPr lang="" altLang="en-US"/>
                        <a:t>š</a:t>
                      </a:r>
                      <a:r>
                        <a:rPr lang="en-US" altLang="en-GB"/>
                        <a:t>iljke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event_type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tip doga</a:t>
                      </a:r>
                      <a:r>
                        <a:rPr lang="" altLang="en-US"/>
                        <a:t>đ</a:t>
                      </a:r>
                      <a:r>
                        <a:rPr lang="en-US" altLang="en-GB"/>
                        <a:t>aja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event_timestamp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vreme nastanka doga</a:t>
                      </a:r>
                      <a:r>
                        <a:rPr lang="" altLang="en-US"/>
                        <a:t>đ</a:t>
                      </a:r>
                      <a:r>
                        <a:rPr lang="en-US" altLang="en-GB"/>
                        <a:t>aja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location_name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lokacija doga</a:t>
                      </a:r>
                      <a:r>
                        <a:rPr lang="" altLang="en-US"/>
                        <a:t>đ</a:t>
                      </a:r>
                      <a:r>
                        <a:rPr lang="en-US" altLang="en-GB"/>
                        <a:t>aja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latitude, longitude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geografske koordinate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speed_knots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brzina transportnog sredstva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heading_deg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smer kretanja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temperature_c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temperatura</a:t>
                      </a:r>
                      <a:endParaRPr lang="en-US" altLang="en-GB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>
                <a:sym typeface="+mn-ea"/>
              </a:rPr>
              <a:t>Semantika kolona </a:t>
            </a:r>
            <a:r>
              <a:rPr lang="en-US" altLang="en-GB">
                <a:sym typeface="+mn-ea"/>
              </a:rPr>
              <a:t>route_events.csv</a:t>
            </a:r>
            <a:endParaRPr lang="en-GB" alt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1"/>
            </p:custDataLst>
          </p:nvPr>
        </p:nvGraphicFramePr>
        <p:xfrm>
          <a:off x="838200" y="1825625"/>
          <a:ext cx="10515600" cy="414909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905125"/>
                <a:gridCol w="7610475"/>
              </a:tblGrid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humidity_pct</a:t>
                      </a:r>
                      <a:endParaRPr lang="en-US" altLang="en-GB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vla</a:t>
                      </a:r>
                      <a:r>
                        <a:rPr lang="" altLang="en-US" b="0"/>
                        <a:t>ž</a:t>
                      </a:r>
                      <a:r>
                        <a:rPr lang="en-US" altLang="en-GB" b="0"/>
                        <a:t>nost vazduha</a:t>
                      </a:r>
                      <a:endParaRPr lang="en-US" altLang="en-GB" b="0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shock_g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nivo vibracija ili udara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delay_added_hours 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dodatno ka</a:t>
                      </a:r>
                      <a:r>
                        <a:rPr lang="" altLang="en-US"/>
                        <a:t>š</a:t>
                      </a:r>
                      <a:r>
                        <a:rPr lang="en-US" altLang="en-GB"/>
                        <a:t>njenje izazvano doga</a:t>
                      </a:r>
                      <a:r>
                        <a:rPr lang="" altLang="en-US"/>
                        <a:t>đ</a:t>
                      </a:r>
                      <a:r>
                        <a:rPr lang="en-US" altLang="en-GB"/>
                        <a:t>ajem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risk_score_delta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promena nivoa rizika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port_wait_hours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vreme 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ekanja u luci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fuel_consumed_lt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potro</a:t>
                      </a:r>
                      <a:r>
                        <a:rPr lang="" altLang="en-US"/>
                        <a:t>š</a:t>
                      </a:r>
                      <a:r>
                        <a:rPr lang="en-US" altLang="en-GB"/>
                        <a:t>nja goriva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co2_kg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emisija ugljen-dioksida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sensor_type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tip senzora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signal_quality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kvalitet signala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anomaly_flag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indikator anomalije</a:t>
                      </a:r>
                      <a:endParaRPr lang="en-US" altLang="en-GB"/>
                    </a:p>
                  </a:txBody>
                  <a:tcPr/>
                </a:tc>
              </a:tr>
              <a:tr h="37719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alert_sent 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indikator poslatog upozorenja </a:t>
                      </a:r>
                      <a:endParaRPr lang="en-US" altLang="en-GB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Primer prostiranja</a:t>
            </a:r>
            <a:endParaRPr lang="sr-Latn-RS" alt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sr-Latn-RS" altLang="en-GB"/>
              <a:t>shipment_id</a:t>
            </a:r>
            <a:endParaRPr lang="sr-Latn-RS" altLang="en-GB"/>
          </a:p>
          <a:p>
            <a:r>
              <a:rPr lang="sr-Latn-RS" altLang="en-GB"/>
              <a:t>isporuka (0-*)                                               (1-*) događaj na ruti </a:t>
            </a:r>
            <a:endParaRPr lang="sr-Latn-RS" altLang="en-GB"/>
          </a:p>
          <a:p>
            <a:endParaRPr lang="sr-Latn-RS" altLang="en-GB"/>
          </a:p>
        </p:txBody>
      </p:sp>
      <p:cxnSp>
        <p:nvCxnSpPr>
          <p:cNvPr id="4" name="Straight Connector 3"/>
          <p:cNvCxnSpPr/>
          <p:nvPr/>
        </p:nvCxnSpPr>
        <p:spPr>
          <a:xfrm>
            <a:off x="3444875" y="2583815"/>
            <a:ext cx="3209925" cy="762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/>
              <a:t>Predlog logi</a:t>
            </a:r>
            <a:r>
              <a:rPr lang="sr-Latn-RS" altLang="en-GB"/>
              <a:t>čke šeme</a:t>
            </a:r>
            <a:endParaRPr lang="sr-Latn-RS" alt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674*327"/>
  <p:tag name="TABLE_ENDDRAG_RECT" val="66*153*674*327"/>
</p:tagLst>
</file>

<file path=ppt/tags/tag2.xml><?xml version="1.0" encoding="utf-8"?>
<p:tagLst xmlns:p="http://schemas.openxmlformats.org/presentationml/2006/main">
  <p:tag name="TABLE_ENDDRAG_ORIGIN_RECT" val="622*301"/>
  <p:tag name="TABLE_ENDDRAG_RECT" val="66*153*622*301"/>
</p:tagLst>
</file>

<file path=ppt/tags/tag3.xml><?xml version="1.0" encoding="utf-8"?>
<p:tagLst xmlns:p="http://schemas.openxmlformats.org/presentationml/2006/main">
  <p:tag name="TABLE_ENDDRAG_ORIGIN_RECT" val="622*237"/>
  <p:tag name="TABLE_ENDDRAG_RECT" val="66*146*622*237"/>
</p:tagLst>
</file>

<file path=ppt/tags/tag4.xml><?xml version="1.0" encoding="utf-8"?>
<p:tagLst xmlns:p="http://schemas.openxmlformats.org/presentationml/2006/main">
  <p:tag name="TABLE_ENDDRAG_ORIGIN_RECT" val="622*237"/>
  <p:tag name="TABLE_ENDDRAG_RECT" val="66*146*622*237"/>
</p:tagLst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2087</Words>
  <Application>WPS Presentation</Application>
  <PresentationFormat>Widescreen</PresentationFormat>
  <Paragraphs>181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Orange Waves</vt:lpstr>
      <vt:lpstr>Analiza pametne logistike globalnog uvoza/izvoza i povezanih ruta</vt:lpstr>
      <vt:lpstr>Opis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HP</cp:lastModifiedBy>
  <cp:revision>26</cp:revision>
  <dcterms:created xsi:type="dcterms:W3CDTF">2025-07-23T00:59:00Z</dcterms:created>
  <dcterms:modified xsi:type="dcterms:W3CDTF">2026-06-02T11:48:52Z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76636C08500A4EB7BB91DE41D1272D49_11</vt:lpwstr>
  </property>
  <property fmtid="{D5CDD505-2E9C-101B-9397-08002B2CF9AE}" pid="3" name="KSOProductBuildVer">
    <vt:lpwstr>2057-12.2.0.23202</vt:lpwstr>
  </property>
</Properties>
</file>